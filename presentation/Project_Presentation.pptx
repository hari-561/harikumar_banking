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8A7A656-B1C9-AD2E-E91B-69342175C0CE}">
          <p14:sldIdLst>
            <p14:sldId id="256"/>
            <p14:sldId id="257"/>
            <p14:sldId id="258"/>
          </p14:sldIdLst>
        </p14:section>
        <p14:section name="Solution" id="{607C8E19-154B-AEE7-E0C4-9B05FDC38666}">
          <p14:sldIdLst>
            <p14:sldId id="259"/>
            <p14:sldId id="260"/>
            <p14:sldId id="261"/>
            <p14:sldId id="262"/>
            <p14:sldId id="263"/>
          </p14:sldIdLst>
        </p14:section>
        <p14:section name="Evidence" id="{3496FBAC-B2EF-9ECA-82A8-B20533789411}">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7" dt="2026-10-12T13:57:39.170"/>
    <p1510:client id="{07B47D70-6A00-4947-950D-69E1FA924207}" v="5" dt="2026-10-12T16:04:20.0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0E3A66"/>
                </a:solidFill>
                <a:latin typeface="+mn-lt"/>
              </a:defRPr>
            </a:pPr>
            <a:r>
              <a:rPr lang="en-US" sz="1600" b="0" i="0" u="none" strike="noStrike">
                <a:solidFill>
                  <a:srgbClr val="0E3A66"/>
                </a:solidFill>
                <a:latin typeface="+mn-lt"/>
              </a:rPr>
              <a:t>Historical default rate by risk band (%)</a:t>
            </a:r>
          </a:p>
        </c:rich>
      </c:tx>
      <c:overlay val="0"/>
    </c:title>
    <c:autoTitleDeleted val="0"/>
    <c:plotArea>
      <c:layout/>
      <c:barChart>
        <c:barDir val="col"/>
        <c:grouping val="clustered"/>
        <c:varyColors val="0"/>
        <c:ser>
          <c:idx val="0"/>
          <c:order val="0"/>
          <c:tx>
            <c:strRef>
              <c:f>Sheet1!$B$1</c:f>
              <c:strCache>
                <c:ptCount val="1"/>
                <c:pt idx="0">
                  <c:v>Historical default rate (%)</c:v>
                </c:pt>
              </c:strCache>
            </c:strRef>
          </c:tx>
          <c:spPr>
            <a:solidFill>
              <a:srgbClr val="22804F"/>
            </a:solidFill>
            <a:effectLst/>
          </c:spPr>
          <c:invertIfNegative val="0"/>
          <c:dPt>
            <c:idx val="0"/>
            <c:invertIfNegative val="0"/>
            <c:bubble3D val="0"/>
            <c:extLst>
              <c:ext xmlns:c16="http://schemas.microsoft.com/office/drawing/2014/chart" uri="{C3380CC4-5D6E-409C-BE32-E72D297353CC}">
                <c16:uniqueId val="{00000001-9AE2-4DAC-AE57-37004581EDFB}"/>
              </c:ext>
            </c:extLst>
          </c:dPt>
          <c:dPt>
            <c:idx val="1"/>
            <c:invertIfNegative val="0"/>
            <c:bubble3D val="0"/>
            <c:spPr>
              <a:solidFill>
                <a:srgbClr val="E9A23B"/>
              </a:solidFill>
              <a:effectLst/>
            </c:spPr>
            <c:extLst>
              <c:ext xmlns:c16="http://schemas.microsoft.com/office/drawing/2014/chart" uri="{C3380CC4-5D6E-409C-BE32-E72D297353CC}">
                <c16:uniqueId val="{00000003-9AE2-4DAC-AE57-37004581EDFB}"/>
              </c:ext>
            </c:extLst>
          </c:dPt>
          <c:dPt>
            <c:idx val="2"/>
            <c:invertIfNegative val="0"/>
            <c:bubble3D val="0"/>
            <c:spPr>
              <a:solidFill>
                <a:srgbClr val="D64545"/>
              </a:solidFill>
              <a:effectLst/>
            </c:spPr>
            <c:extLst>
              <c:ext xmlns:c16="http://schemas.microsoft.com/office/drawing/2014/chart" uri="{C3380CC4-5D6E-409C-BE32-E72D297353CC}">
                <c16:uniqueId val="{00000005-9AE2-4DAC-AE57-37004581EDFB}"/>
              </c:ext>
            </c:extLst>
          </c:dPt>
          <c:dLbls>
            <c:numFmt formatCode="0.00&quot;%&quot;" sourceLinked="0"/>
            <c:spPr>
              <a:noFill/>
              <a:ln>
                <a:noFill/>
              </a:ln>
              <a:effectLst/>
            </c:spPr>
            <c:txPr>
              <a:bodyPr/>
              <a:lstStyle/>
              <a:p>
                <a:pPr>
                  <a:defRPr sz="1400" b="0" i="0" u="none" strike="noStrike">
                    <a:solidFill>
                      <a:srgbClr val="0B1B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c:v>
                </c:pt>
                <c:pt idx="1">
                  <c:v>MEDIUM</c:v>
                </c:pt>
                <c:pt idx="2">
                  <c:v>HIGH</c:v>
                </c:pt>
              </c:strCache>
            </c:strRef>
          </c:cat>
          <c:val>
            <c:numRef>
              <c:f>Sheet1!$B$2:$B$4</c:f>
              <c:numCache>
                <c:formatCode>General</c:formatCode>
                <c:ptCount val="3"/>
                <c:pt idx="0">
                  <c:v>12.61</c:v>
                </c:pt>
                <c:pt idx="1">
                  <c:v>16.62</c:v>
                </c:pt>
                <c:pt idx="2">
                  <c:v>51.36</c:v>
                </c:pt>
              </c:numCache>
            </c:numRef>
          </c:val>
          <c:extLst>
            <c:ext xmlns:c16="http://schemas.microsoft.com/office/drawing/2014/chart" uri="{C3380CC4-5D6E-409C-BE32-E72D297353CC}">
              <c16:uniqueId val="{00000006-9AE2-4DAC-AE57-37004581EDFB}"/>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B1B33"/>
                </a:solidFill>
                <a:latin typeface="+mn-lt"/>
              </a:defRPr>
            </a:pPr>
            <a:endParaRPr lang="en-US"/>
          </a:p>
        </c:txPr>
        <c:crossAx val="2094734552"/>
        <c:crosses val="autoZero"/>
        <c:auto val="1"/>
        <c:lblAlgn val="ctr"/>
        <c:lblOffset val="100"/>
        <c:noMultiLvlLbl val="1"/>
      </c:catAx>
      <c:valAx>
        <c:axId val="2094734552"/>
        <c:scaling>
          <c:orientation val="minMax"/>
          <c:max val="60"/>
          <c:min val="0"/>
        </c:scaling>
        <c:delete val="0"/>
        <c:axPos val="l"/>
        <c:majorGridlines>
          <c:spPr>
            <a:ln w="6350" cap="flat">
              <a:solidFill>
                <a:srgbClr val="D5DD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B1B33"/>
                </a:solidFill>
                <a:latin typeface="+mn-lt"/>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832FB710-C771-4AB9-900B-4CCEE719E6B1}" type="datetimeFigureOut">
              <a:t>10/12/2026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C7BDC09E-1031-4881-8B33-87541D978007}" type="slidenum">
              <a:t>‹#›</a:t>
            </a:fld>
            <a:endParaRPr lang="en-US"/>
          </a:p>
        </p:txBody>
      </p:sp>
    </p:spTree>
    <p:extLst>
      <p:ext uri="{BB962C8B-B14F-4D97-AF65-F5344CB8AC3E}">
        <p14:creationId xmlns:p14="http://schemas.microsoft.com/office/powerpoint/2010/main" val="1970870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project is a credit card risk analysis system. It takes 30,000 customers' repayment history, turns it into transparent risk scores, and serves them through secure APIs and dashboards. The three bands on the right are the final output: LOW, MEDIUM and HIGH.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a lender holds raw repayment, bill and payment data for thousands of customers. In this dataset about 22 percent of customers defaulted the next month. Reading 25 raw fields per customer by hand is not realistic, there is no standard score to compare customers, and a black-box score would be hard to justify.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business needs drive the design. Early warning, so risky customers are found sooner. Explainability, because lending decisions must be justified. Portfolio visibility, so managers see KPIs and default rates in one place. And controlled access, because customer data is sensitive.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has four steps: ingest, store, score, serve. The ETL loads and validates the data, MySQL stores it, a rule engine scores each customer on four indicators (how many months were late, how serious the worst delay was, how much of the credit limit is used, and how much of the bills were paid), and FastAPI plus Streamlit deliver it to users by role. The score runs from 0 to 11 and maps to LOW, MEDIUM or HIGH.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overall architecture. Read it left to right: the credit card dataset goes through the ETL pipeline into MySQL. FastAPI serves data and risk assessments to the web dashboard. The business rules engine at the bottom scores each customer on four indicators and writes the result back to the database. Analysts and administrators are the two main user roles.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lanes, one database. Lane A loads the dataset through the ETL into MySQL. Lane B is a separate batch job that rebuilds the features, applies the risk rules and saves the score and band. Lane C is what the user sees: Streamlit calls FastAPI, which checks the token and role and runs SQL. The dashed arrow shows that when an admin creates or updates a customer, FastAPI calls the same risk rules immediately. MySQL is the single source of truth.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ETL has six stages. Extract reads the Excel file. Validate runs 13 data quality checks; any FAIL stops the pipeline, warnings are logged. Transform renames columns, maps codes and derives delay, bill, payment and utilization features. Detect changes compares 15 columns with what is already in MySQL and classes each customer as new, changed or unchanged; the counts must reconcile with the source. Prepare tables splits the rows into customers, credit profiles and monthly activity. Load writes everything in one transaction with an audit row, and rolls back with a FAILED audit entry on any error. That makes the pipeline incremental, idempotent, atomic and auditable.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all Python and MySQL. Pandas and NumPy handle the data processing. FastAPI with Pydantic and Uvicorn is the backend. Streamlit with Plotly is the dashboard. Authentication uses JWT tokens and Argon2 password hashing. Pytest covers the testing, and Git with GitHub handles version control.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demo order. Log in as an admin. Open Portfolio Overview for KPIs. Open Risk Analysis to show the three bands against historical defaults. Use Customer Explorer to open one customer and show the risk breakdown. In Customer Management create a customer and show that the score appears immediately. Finish with a CSV export, then log in as a viewer to show that restricted pages are hidden and blocked by the backend. Have the database loaded and the API running before you start.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initial 30,000 customers, the HIGH band had a 51.36% historical default rate against 12.61% for LOW, roughly four times higher. MEDIUM is 16.62% and the overall rate was 22.12%. These are observed historical outcomes on this dataset, not predictions, and the default flag was not used as an input to the score. The 672 tests are the automated test suite.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the source data has undocumented codes and negative bill amounts, which we handle as warnings; loading incrementally without ever leaving half-loaded data; keeping the scoring explainable instead of using a black-box model; and enforcing roles in the backend. Learnings: validate early, make pipelines safe to rerun, keep layers separate so they can be tested, and remember that simple rules can still separate risk well. Limitations to be upfront about: the scores are rule-based classifications, not probabilities of default, the dataset is historical, and risk scoring currently runs as a separate step after the ETL. The next step is to trigger it automatically.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a:spLocks noGrp="1"/>
          </p:cNvSpPr>
          <p:nvPr>
            <p:ph type="title" idx="101" hasCustomPrompt="1"/>
          </p:nvPr>
        </p:nvSpPr>
        <p:spPr>
          <a:xfrm>
            <a:off x="731520" y="1737360"/>
            <a:ext cx="7589520" cy="201168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4" name="Text 1"/>
          <p:cNvSpPr>
            <a:spLocks noGrp="1"/>
          </p:cNvSpPr>
          <p:nvPr>
            <p:ph type="body" idx="102" hasCustomPrompt="1"/>
          </p:nvPr>
        </p:nvSpPr>
        <p:spPr>
          <a:xfrm>
            <a:off x="731520" y="3977640"/>
            <a:ext cx="7589520" cy="100584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marL="0" indent="0">
              <a:buNone/>
            </a:pPr>
            <a:r>
              <a:rPr lang="en-US" sz="1000" dirty="0">
                <a:solidFill>
                  <a:schemeClr val="tx2"/>
                </a:solidFill>
              </a:rPr>
              <a:t>Bank Credit Card Risk Analysis System</a:t>
            </a:r>
            <a:endParaRPr lang="en-US" sz="10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3A6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3A6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731520" y="1737360"/>
            <a:ext cx="7589520" cy="2011680"/>
          </a:xfrm>
          <a:prstGeom prst="rect">
            <a:avLst/>
          </a:prstGeom>
          <a:noFill/>
          <a:ln/>
        </p:spPr>
        <p:txBody>
          <a:bodyPr wrap="square" lIns="0" tIns="0" rIns="0" bIns="0" rtlCol="0" anchor="b"/>
          <a:lstStyle/>
          <a:p>
            <a:pPr marL="0" indent="0" algn="l">
              <a:buNone/>
            </a:pPr>
            <a:r>
              <a:rPr lang="en-US" sz="4400" b="1" dirty="0">
                <a:solidFill>
                  <a:schemeClr val="bg1"/>
                </a:solidFill>
              </a:rPr>
              <a:t>Bank Credit Card Risk Analysis System</a:t>
            </a:r>
            <a:endParaRPr lang="en-US" sz="4400" dirty="0"/>
          </a:p>
        </p:txBody>
      </p:sp>
      <p:sp>
        <p:nvSpPr>
          <p:cNvPr id="3" name="Text 1"/>
          <p:cNvSpPr>
            <a:spLocks noGrp="1"/>
          </p:cNvSpPr>
          <p:nvPr>
            <p:ph type="body" idx="102" hasCustomPrompt="1"/>
          </p:nvPr>
        </p:nvSpPr>
        <p:spPr>
          <a:xfrm>
            <a:off x="731520" y="3977640"/>
            <a:ext cx="7589520" cy="1005840"/>
          </a:xfrm>
          <a:prstGeom prst="rect">
            <a:avLst/>
          </a:prstGeom>
          <a:noFill/>
          <a:ln/>
        </p:spPr>
        <p:txBody>
          <a:bodyPr wrap="square" lIns="0" tIns="0" rIns="0" bIns="0" rtlCol="0" anchor="t"/>
          <a:lstStyle/>
          <a:p>
            <a:pPr marL="0" indent="0" algn="l">
              <a:buNone/>
            </a:pPr>
            <a:r>
              <a:rPr lang="en-US" sz="2000" dirty="0">
                <a:solidFill>
                  <a:schemeClr val="bg2"/>
                </a:solidFill>
              </a:rPr>
              <a:t>Rule-based credit risk analytics: from raw repayment data to explainable risk bands and role-based dashboards</a:t>
            </a:r>
            <a:endParaRPr lang="en-US" sz="2000" dirty="0"/>
          </a:p>
        </p:txBody>
      </p:sp>
      <p:sp>
        <p:nvSpPr>
          <p:cNvPr id="4" name="Tech stack"/>
          <p:cNvSpPr txBox="1"/>
          <p:nvPr/>
        </p:nvSpPr>
        <p:spPr>
          <a:xfrm>
            <a:off x="731520" y="5760720"/>
            <a:ext cx="7589520" cy="365760"/>
          </a:xfrm>
          <a:prstGeom prst="rect">
            <a:avLst/>
          </a:prstGeom>
          <a:noFill/>
          <a:ln/>
        </p:spPr>
        <p:txBody>
          <a:bodyPr wrap="square" lIns="0" tIns="0" rIns="0" bIns="0" rtlCol="0" anchor="t"/>
          <a:lstStyle/>
          <a:p>
            <a:pPr marL="0" indent="0">
              <a:buNone/>
            </a:pPr>
            <a:r>
              <a:rPr lang="en-US" sz="1400" dirty="0">
                <a:solidFill>
                  <a:schemeClr val="bg2"/>
                </a:solidFill>
              </a:rPr>
              <a:t>Python  |  Pandas  |  MySQL  |  FastAPI  |  Streamlit</a:t>
            </a:r>
            <a:endParaRPr lang="en-US" sz="1400" dirty="0"/>
          </a:p>
        </p:txBody>
      </p:sp>
      <p:sp>
        <p:nvSpPr>
          <p:cNvPr id="5" name="Band tile LOW"/>
          <p:cNvSpPr/>
          <p:nvPr/>
        </p:nvSpPr>
        <p:spPr>
          <a:xfrm>
            <a:off x="8778240" y="1737360"/>
            <a:ext cx="2834640" cy="1051560"/>
          </a:xfrm>
          <a:prstGeom prst="roundRect">
            <a:avLst>
              <a:gd name="adj" fmla="val 10435"/>
            </a:avLst>
          </a:prstGeom>
          <a:solidFill>
            <a:schemeClr val="accent5"/>
          </a:solidFill>
          <a:ln/>
        </p:spPr>
      </p:sp>
      <p:sp>
        <p:nvSpPr>
          <p:cNvPr id="6" name="Band name LOW"/>
          <p:cNvSpPr txBox="1"/>
          <p:nvPr/>
        </p:nvSpPr>
        <p:spPr>
          <a:xfrm>
            <a:off x="9052560" y="1737360"/>
            <a:ext cx="1554480" cy="1051560"/>
          </a:xfrm>
          <a:prstGeom prst="rect">
            <a:avLst/>
          </a:prstGeom>
          <a:noFill/>
          <a:ln/>
        </p:spPr>
        <p:txBody>
          <a:bodyPr wrap="square" lIns="0" tIns="0" rIns="0" bIns="0" rtlCol="0" anchor="ctr"/>
          <a:lstStyle/>
          <a:p>
            <a:pPr marL="0" indent="0">
              <a:buNone/>
            </a:pPr>
            <a:r>
              <a:rPr lang="en-US" sz="2400" b="1" dirty="0">
                <a:solidFill>
                  <a:schemeClr val="bg1"/>
                </a:solidFill>
              </a:rPr>
              <a:t>LOW</a:t>
            </a:r>
            <a:endParaRPr lang="en-US" sz="2400" dirty="0"/>
          </a:p>
        </p:txBody>
      </p:sp>
      <p:sp>
        <p:nvSpPr>
          <p:cNvPr id="7" name="Band range LOW"/>
          <p:cNvSpPr txBox="1"/>
          <p:nvPr/>
        </p:nvSpPr>
        <p:spPr>
          <a:xfrm>
            <a:off x="10332720" y="1737360"/>
            <a:ext cx="1097280" cy="1051560"/>
          </a:xfrm>
          <a:prstGeom prst="rect">
            <a:avLst/>
          </a:prstGeom>
          <a:noFill/>
          <a:ln/>
        </p:spPr>
        <p:txBody>
          <a:bodyPr wrap="square" lIns="0" tIns="0" rIns="0" bIns="0" rtlCol="0" anchor="ctr"/>
          <a:lstStyle/>
          <a:p>
            <a:pPr marL="0" indent="0" algn="r">
              <a:buNone/>
            </a:pPr>
            <a:r>
              <a:rPr lang="en-US" sz="1400" dirty="0">
                <a:solidFill>
                  <a:schemeClr val="bg1"/>
                </a:solidFill>
              </a:rPr>
              <a:t>score 0-2</a:t>
            </a:r>
            <a:endParaRPr lang="en-US" sz="1400" dirty="0"/>
          </a:p>
        </p:txBody>
      </p:sp>
      <p:sp>
        <p:nvSpPr>
          <p:cNvPr id="8" name="Band tile MEDIUM"/>
          <p:cNvSpPr/>
          <p:nvPr/>
        </p:nvSpPr>
        <p:spPr>
          <a:xfrm>
            <a:off x="8778240" y="3017520"/>
            <a:ext cx="2834640" cy="1051560"/>
          </a:xfrm>
          <a:prstGeom prst="roundRect">
            <a:avLst>
              <a:gd name="adj" fmla="val 10435"/>
            </a:avLst>
          </a:prstGeom>
          <a:solidFill>
            <a:schemeClr val="accent3"/>
          </a:solidFill>
          <a:ln/>
        </p:spPr>
      </p:sp>
      <p:sp>
        <p:nvSpPr>
          <p:cNvPr id="9" name="Band name MEDIUM"/>
          <p:cNvSpPr txBox="1"/>
          <p:nvPr/>
        </p:nvSpPr>
        <p:spPr>
          <a:xfrm>
            <a:off x="9052560" y="3017520"/>
            <a:ext cx="1554480" cy="1051560"/>
          </a:xfrm>
          <a:prstGeom prst="rect">
            <a:avLst/>
          </a:prstGeom>
          <a:noFill/>
          <a:ln/>
        </p:spPr>
        <p:txBody>
          <a:bodyPr wrap="square" lIns="0" tIns="0" rIns="0" bIns="0" rtlCol="0" anchor="ctr"/>
          <a:lstStyle/>
          <a:p>
            <a:pPr marL="0" indent="0">
              <a:buNone/>
            </a:pPr>
            <a:r>
              <a:rPr lang="en-US" sz="2400" b="1" dirty="0">
                <a:solidFill>
                  <a:schemeClr val="tx1"/>
                </a:solidFill>
              </a:rPr>
              <a:t>MEDIUM</a:t>
            </a:r>
            <a:endParaRPr lang="en-US" sz="2400" dirty="0"/>
          </a:p>
        </p:txBody>
      </p:sp>
      <p:sp>
        <p:nvSpPr>
          <p:cNvPr id="10" name="Band range MEDIUM"/>
          <p:cNvSpPr txBox="1"/>
          <p:nvPr/>
        </p:nvSpPr>
        <p:spPr>
          <a:xfrm>
            <a:off x="10332720" y="3017520"/>
            <a:ext cx="1097280" cy="1051560"/>
          </a:xfrm>
          <a:prstGeom prst="rect">
            <a:avLst/>
          </a:prstGeom>
          <a:noFill/>
          <a:ln/>
        </p:spPr>
        <p:txBody>
          <a:bodyPr wrap="square" lIns="0" tIns="0" rIns="0" bIns="0" rtlCol="0" anchor="ctr"/>
          <a:lstStyle/>
          <a:p>
            <a:pPr marL="0" indent="0" algn="r">
              <a:buNone/>
            </a:pPr>
            <a:r>
              <a:rPr lang="en-US" sz="1400" dirty="0">
                <a:solidFill>
                  <a:schemeClr val="tx1"/>
                </a:solidFill>
              </a:rPr>
              <a:t>score 3-5</a:t>
            </a:r>
            <a:endParaRPr lang="en-US" sz="1400" dirty="0"/>
          </a:p>
        </p:txBody>
      </p:sp>
      <p:sp>
        <p:nvSpPr>
          <p:cNvPr id="11" name="Band tile HIGH"/>
          <p:cNvSpPr/>
          <p:nvPr/>
        </p:nvSpPr>
        <p:spPr>
          <a:xfrm>
            <a:off x="8778240" y="4297680"/>
            <a:ext cx="2834640" cy="1051560"/>
          </a:xfrm>
          <a:prstGeom prst="roundRect">
            <a:avLst>
              <a:gd name="adj" fmla="val 10435"/>
            </a:avLst>
          </a:prstGeom>
          <a:solidFill>
            <a:schemeClr val="accent4"/>
          </a:solidFill>
          <a:ln/>
        </p:spPr>
      </p:sp>
      <p:sp>
        <p:nvSpPr>
          <p:cNvPr id="12" name="Band name HIGH"/>
          <p:cNvSpPr txBox="1"/>
          <p:nvPr/>
        </p:nvSpPr>
        <p:spPr>
          <a:xfrm>
            <a:off x="9052560" y="4297680"/>
            <a:ext cx="1554480" cy="1051560"/>
          </a:xfrm>
          <a:prstGeom prst="rect">
            <a:avLst/>
          </a:prstGeom>
          <a:noFill/>
          <a:ln/>
        </p:spPr>
        <p:txBody>
          <a:bodyPr wrap="square" lIns="0" tIns="0" rIns="0" bIns="0" rtlCol="0" anchor="ctr"/>
          <a:lstStyle/>
          <a:p>
            <a:pPr marL="0" indent="0">
              <a:buNone/>
            </a:pPr>
            <a:r>
              <a:rPr lang="en-US" sz="2400" b="1" dirty="0">
                <a:solidFill>
                  <a:schemeClr val="bg1"/>
                </a:solidFill>
              </a:rPr>
              <a:t>HIGH</a:t>
            </a:r>
            <a:endParaRPr lang="en-US" sz="2400" dirty="0"/>
          </a:p>
        </p:txBody>
      </p:sp>
      <p:sp>
        <p:nvSpPr>
          <p:cNvPr id="13" name="Band range HIGH"/>
          <p:cNvSpPr txBox="1"/>
          <p:nvPr/>
        </p:nvSpPr>
        <p:spPr>
          <a:xfrm>
            <a:off x="10332720" y="4297680"/>
            <a:ext cx="1097280" cy="1051560"/>
          </a:xfrm>
          <a:prstGeom prst="rect">
            <a:avLst/>
          </a:prstGeom>
          <a:noFill/>
          <a:ln/>
        </p:spPr>
        <p:txBody>
          <a:bodyPr wrap="square" lIns="0" tIns="0" rIns="0" bIns="0" rtlCol="0" anchor="ctr"/>
          <a:lstStyle/>
          <a:p>
            <a:pPr marL="0" indent="0" algn="r">
              <a:buNone/>
            </a:pPr>
            <a:r>
              <a:rPr lang="en-US" sz="1400" dirty="0">
                <a:solidFill>
                  <a:schemeClr val="bg1"/>
                </a:solidFill>
              </a:rPr>
              <a:t>score 6-11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Problem statement</a:t>
            </a:r>
            <a:endParaRPr lang="en-US" sz="3400" dirty="0"/>
          </a:p>
        </p:txBody>
      </p:sp>
      <p:sp>
        <p:nvSpPr>
          <p:cNvPr id="3" name="Raw data, little insight icon circle"/>
          <p:cNvSpPr/>
          <p:nvPr/>
        </p:nvSpPr>
        <p:spPr>
          <a:xfrm>
            <a:off x="548640" y="1463040"/>
            <a:ext cx="640080" cy="640080"/>
          </a:xfrm>
          <a:prstGeom prst="ellipse">
            <a:avLst/>
          </a:prstGeom>
          <a:solidFill>
            <a:schemeClr val="tx2"/>
          </a:solidFill>
          <a:ln/>
        </p:spPr>
      </p:sp>
      <p:pic>
        <p:nvPicPr>
          <p:cNvPr id="4" name="Raw data, little insight icon" descr="Raw data, little insight icon"/>
          <p:cNvPicPr>
            <a:picLocks noChangeAspect="1"/>
          </p:cNvPicPr>
          <p:nvPr/>
        </p:nvPicPr>
        <p:blipFill>
          <a:blip r:embed="rId3"/>
          <a:stretch>
            <a:fillRect/>
          </a:stretch>
        </p:blipFill>
        <p:spPr>
          <a:xfrm>
            <a:off x="721462" y="1635862"/>
            <a:ext cx="294437" cy="294437"/>
          </a:xfrm>
          <a:prstGeom prst="rect">
            <a:avLst/>
          </a:prstGeom>
        </p:spPr>
      </p:pic>
      <p:sp>
        <p:nvSpPr>
          <p:cNvPr id="5" name="Raw data, little insight heading"/>
          <p:cNvSpPr txBox="1"/>
          <p:nvPr/>
        </p:nvSpPr>
        <p:spPr>
          <a:xfrm>
            <a:off x="1463040" y="1463040"/>
            <a:ext cx="5760720" cy="365760"/>
          </a:xfrm>
          <a:prstGeom prst="rect">
            <a:avLst/>
          </a:prstGeom>
          <a:noFill/>
          <a:ln/>
        </p:spPr>
        <p:txBody>
          <a:bodyPr wrap="square" lIns="0" tIns="0" rIns="0" bIns="0" rtlCol="0" anchor="t"/>
          <a:lstStyle/>
          <a:p>
            <a:pPr marL="0" indent="0">
              <a:buNone/>
            </a:pPr>
            <a:r>
              <a:rPr lang="en-US" sz="1800" b="1" dirty="0">
                <a:solidFill>
                  <a:schemeClr val="tx2"/>
                </a:solidFill>
              </a:rPr>
              <a:t>Raw data, little insight</a:t>
            </a:r>
            <a:endParaRPr lang="en-US" sz="1800" dirty="0"/>
          </a:p>
        </p:txBody>
      </p:sp>
      <p:sp>
        <p:nvSpPr>
          <p:cNvPr id="6" name="Raw data, little insight text"/>
          <p:cNvSpPr txBox="1"/>
          <p:nvPr/>
        </p:nvSpPr>
        <p:spPr>
          <a:xfrm>
            <a:off x="1463040" y="1874520"/>
            <a:ext cx="5760720" cy="914400"/>
          </a:xfrm>
          <a:prstGeom prst="rect">
            <a:avLst/>
          </a:prstGeom>
          <a:noFill/>
          <a:ln/>
        </p:spPr>
        <p:txBody>
          <a:bodyPr wrap="square" lIns="0" tIns="0" rIns="0" bIns="0" rtlCol="0" anchor="t"/>
          <a:lstStyle/>
          <a:p>
            <a:pPr marL="0" indent="0">
              <a:buNone/>
            </a:pPr>
            <a:r>
              <a:rPr lang="en-US" sz="1500" dirty="0">
                <a:solidFill>
                  <a:schemeClr val="tx1"/>
                </a:solidFill>
              </a:rPr>
              <a:t>Six months of repayment status, bills and payments across 25 fields per customer are hard to read by hand.</a:t>
            </a:r>
            <a:endParaRPr lang="en-US" sz="1500" dirty="0"/>
          </a:p>
        </p:txBody>
      </p:sp>
      <p:sp>
        <p:nvSpPr>
          <p:cNvPr id="7" name="No consistent risk measure icon circle"/>
          <p:cNvSpPr/>
          <p:nvPr/>
        </p:nvSpPr>
        <p:spPr>
          <a:xfrm>
            <a:off x="548640" y="2971800"/>
            <a:ext cx="640080" cy="640080"/>
          </a:xfrm>
          <a:prstGeom prst="ellipse">
            <a:avLst/>
          </a:prstGeom>
          <a:solidFill>
            <a:schemeClr val="tx2"/>
          </a:solidFill>
          <a:ln/>
        </p:spPr>
      </p:sp>
      <p:pic>
        <p:nvPicPr>
          <p:cNvPr id="8" name="No consistent risk measure icon" descr="No consistent risk measure icon"/>
          <p:cNvPicPr>
            <a:picLocks noChangeAspect="1"/>
          </p:cNvPicPr>
          <p:nvPr/>
        </p:nvPicPr>
        <p:blipFill>
          <a:blip r:embed="rId4"/>
          <a:stretch>
            <a:fillRect/>
          </a:stretch>
        </p:blipFill>
        <p:spPr>
          <a:xfrm>
            <a:off x="721462" y="3144622"/>
            <a:ext cx="294437" cy="294437"/>
          </a:xfrm>
          <a:prstGeom prst="rect">
            <a:avLst/>
          </a:prstGeom>
        </p:spPr>
      </p:pic>
      <p:sp>
        <p:nvSpPr>
          <p:cNvPr id="9" name="No consistent risk measure heading"/>
          <p:cNvSpPr txBox="1"/>
          <p:nvPr/>
        </p:nvSpPr>
        <p:spPr>
          <a:xfrm>
            <a:off x="1463040" y="2971800"/>
            <a:ext cx="5760720" cy="365760"/>
          </a:xfrm>
          <a:prstGeom prst="rect">
            <a:avLst/>
          </a:prstGeom>
          <a:noFill/>
          <a:ln/>
        </p:spPr>
        <p:txBody>
          <a:bodyPr wrap="square" lIns="0" tIns="0" rIns="0" bIns="0" rtlCol="0" anchor="t"/>
          <a:lstStyle/>
          <a:p>
            <a:pPr marL="0" indent="0">
              <a:buNone/>
            </a:pPr>
            <a:r>
              <a:rPr lang="en-US" sz="1800" b="1" dirty="0">
                <a:solidFill>
                  <a:schemeClr val="tx2"/>
                </a:solidFill>
              </a:rPr>
              <a:t>No consistent risk measure</a:t>
            </a:r>
            <a:endParaRPr lang="en-US" sz="1800" dirty="0"/>
          </a:p>
        </p:txBody>
      </p:sp>
      <p:sp>
        <p:nvSpPr>
          <p:cNvPr id="10" name="No consistent risk measure text"/>
          <p:cNvSpPr txBox="1"/>
          <p:nvPr/>
        </p:nvSpPr>
        <p:spPr>
          <a:xfrm>
            <a:off x="1463040" y="3383280"/>
            <a:ext cx="5760720" cy="914400"/>
          </a:xfrm>
          <a:prstGeom prst="rect">
            <a:avLst/>
          </a:prstGeom>
          <a:noFill/>
          <a:ln/>
        </p:spPr>
        <p:txBody>
          <a:bodyPr wrap="square" lIns="0" tIns="0" rIns="0" bIns="0" rtlCol="0" anchor="t"/>
          <a:lstStyle/>
          <a:p>
            <a:pPr marL="0" indent="0">
              <a:buNone/>
            </a:pPr>
            <a:r>
              <a:rPr lang="en-US" sz="1500" dirty="0">
                <a:solidFill>
                  <a:schemeClr val="tx1"/>
                </a:solidFill>
              </a:rPr>
              <a:t>Without one standard score, customers cannot be ranked or compared fairly.</a:t>
            </a:r>
            <a:endParaRPr lang="en-US" sz="1500" dirty="0"/>
          </a:p>
        </p:txBody>
      </p:sp>
      <p:sp>
        <p:nvSpPr>
          <p:cNvPr id="11" name="Decisions that are hard to explain icon circle"/>
          <p:cNvSpPr/>
          <p:nvPr/>
        </p:nvSpPr>
        <p:spPr>
          <a:xfrm>
            <a:off x="548640" y="4480560"/>
            <a:ext cx="640080" cy="640080"/>
          </a:xfrm>
          <a:prstGeom prst="ellipse">
            <a:avLst/>
          </a:prstGeom>
          <a:solidFill>
            <a:schemeClr val="tx2"/>
          </a:solidFill>
          <a:ln/>
        </p:spPr>
      </p:sp>
      <p:pic>
        <p:nvPicPr>
          <p:cNvPr id="12" name="Decisions that are hard to explain icon" descr="Decisions that are hard to explain icon"/>
          <p:cNvPicPr>
            <a:picLocks noChangeAspect="1"/>
          </p:cNvPicPr>
          <p:nvPr/>
        </p:nvPicPr>
        <p:blipFill>
          <a:blip r:embed="rId5"/>
          <a:stretch>
            <a:fillRect/>
          </a:stretch>
        </p:blipFill>
        <p:spPr>
          <a:xfrm>
            <a:off x="721462" y="4653382"/>
            <a:ext cx="294437" cy="294437"/>
          </a:xfrm>
          <a:prstGeom prst="rect">
            <a:avLst/>
          </a:prstGeom>
        </p:spPr>
      </p:pic>
      <p:sp>
        <p:nvSpPr>
          <p:cNvPr id="13" name="Decisions that are hard to explain heading"/>
          <p:cNvSpPr txBox="1"/>
          <p:nvPr/>
        </p:nvSpPr>
        <p:spPr>
          <a:xfrm>
            <a:off x="1463040" y="4480560"/>
            <a:ext cx="5760720" cy="365760"/>
          </a:xfrm>
          <a:prstGeom prst="rect">
            <a:avLst/>
          </a:prstGeom>
          <a:noFill/>
          <a:ln/>
        </p:spPr>
        <p:txBody>
          <a:bodyPr wrap="square" lIns="0" tIns="0" rIns="0" bIns="0" rtlCol="0" anchor="t"/>
          <a:lstStyle/>
          <a:p>
            <a:pPr marL="0" indent="0">
              <a:buNone/>
            </a:pPr>
            <a:r>
              <a:rPr lang="en-US" sz="1800" b="1" dirty="0">
                <a:solidFill>
                  <a:schemeClr val="tx2"/>
                </a:solidFill>
              </a:rPr>
              <a:t>Decisions that are hard to explain</a:t>
            </a:r>
            <a:endParaRPr lang="en-US" sz="1800" dirty="0"/>
          </a:p>
        </p:txBody>
      </p:sp>
      <p:sp>
        <p:nvSpPr>
          <p:cNvPr id="14" name="Decisions that are hard to explain text"/>
          <p:cNvSpPr txBox="1"/>
          <p:nvPr/>
        </p:nvSpPr>
        <p:spPr>
          <a:xfrm>
            <a:off x="1463040" y="4892040"/>
            <a:ext cx="5760720" cy="914400"/>
          </a:xfrm>
          <a:prstGeom prst="rect">
            <a:avLst/>
          </a:prstGeom>
          <a:noFill/>
          <a:ln/>
        </p:spPr>
        <p:txBody>
          <a:bodyPr wrap="square" lIns="0" tIns="0" rIns="0" bIns="0" rtlCol="0" anchor="t"/>
          <a:lstStyle/>
          <a:p>
            <a:pPr marL="0" indent="0">
              <a:buNone/>
            </a:pPr>
            <a:r>
              <a:rPr lang="en-US" sz="1500" dirty="0">
                <a:solidFill>
                  <a:schemeClr val="tx1"/>
                </a:solidFill>
              </a:rPr>
              <a:t>Black-box scores are difficult to justify to auditors or to customers.</a:t>
            </a:r>
            <a:endParaRPr lang="en-US" sz="1500" dirty="0"/>
          </a:p>
        </p:txBody>
      </p:sp>
      <p:sp>
        <p:nvSpPr>
          <p:cNvPr id="15" name="Stat card 22.12%"/>
          <p:cNvSpPr/>
          <p:nvPr/>
        </p:nvSpPr>
        <p:spPr>
          <a:xfrm>
            <a:off x="7680960" y="1463040"/>
            <a:ext cx="3931920" cy="2011680"/>
          </a:xfrm>
          <a:prstGeom prst="roundRect">
            <a:avLst>
              <a:gd name="adj" fmla="val 5455"/>
            </a:avLst>
          </a:prstGeom>
          <a:solidFill>
            <a:schemeClr val="bg2"/>
          </a:solidFill>
          <a:ln/>
        </p:spPr>
      </p:sp>
      <p:sp>
        <p:nvSpPr>
          <p:cNvPr id="16" name="Stat value 22.12%"/>
          <p:cNvSpPr txBox="1"/>
          <p:nvPr/>
        </p:nvSpPr>
        <p:spPr>
          <a:xfrm>
            <a:off x="7955280" y="1737360"/>
            <a:ext cx="3383280" cy="822960"/>
          </a:xfrm>
          <a:prstGeom prst="rect">
            <a:avLst/>
          </a:prstGeom>
          <a:noFill/>
          <a:ln/>
        </p:spPr>
        <p:txBody>
          <a:bodyPr wrap="square" lIns="0" tIns="0" rIns="0" bIns="0" rtlCol="0" anchor="ctr"/>
          <a:lstStyle/>
          <a:p>
            <a:pPr marL="0" indent="0">
              <a:buNone/>
            </a:pPr>
            <a:r>
              <a:rPr lang="en-US" sz="4800" b="1" dirty="0">
                <a:solidFill>
                  <a:schemeClr val="tx2"/>
                </a:solidFill>
              </a:rPr>
              <a:t>22.12%</a:t>
            </a:r>
            <a:endParaRPr lang="en-US" sz="4800" dirty="0"/>
          </a:p>
        </p:txBody>
      </p:sp>
      <p:sp>
        <p:nvSpPr>
          <p:cNvPr id="17" name="Stat label 22.12%"/>
          <p:cNvSpPr txBox="1"/>
          <p:nvPr/>
        </p:nvSpPr>
        <p:spPr>
          <a:xfrm>
            <a:off x="7955280" y="2651760"/>
            <a:ext cx="3383280" cy="731520"/>
          </a:xfrm>
          <a:prstGeom prst="rect">
            <a:avLst/>
          </a:prstGeom>
          <a:noFill/>
          <a:ln/>
        </p:spPr>
        <p:txBody>
          <a:bodyPr wrap="square" lIns="0" tIns="0" rIns="0" bIns="0" rtlCol="0" anchor="t"/>
          <a:lstStyle/>
          <a:p>
            <a:pPr marL="0" indent="0">
              <a:buNone/>
            </a:pPr>
            <a:r>
              <a:rPr lang="en-US" sz="1500" dirty="0">
                <a:solidFill>
                  <a:schemeClr val="tx1"/>
                </a:solidFill>
              </a:rPr>
              <a:t>of customers in the dataset defaulted the following month</a:t>
            </a:r>
            <a:endParaRPr lang="en-US" sz="1500" dirty="0"/>
          </a:p>
        </p:txBody>
      </p:sp>
      <p:sp>
        <p:nvSpPr>
          <p:cNvPr id="18" name="Stat card 30,000"/>
          <p:cNvSpPr/>
          <p:nvPr/>
        </p:nvSpPr>
        <p:spPr>
          <a:xfrm>
            <a:off x="7680960" y="3657600"/>
            <a:ext cx="3931920" cy="2011680"/>
          </a:xfrm>
          <a:prstGeom prst="roundRect">
            <a:avLst>
              <a:gd name="adj" fmla="val 5455"/>
            </a:avLst>
          </a:prstGeom>
          <a:solidFill>
            <a:schemeClr val="bg2"/>
          </a:solidFill>
          <a:ln/>
        </p:spPr>
      </p:sp>
      <p:sp>
        <p:nvSpPr>
          <p:cNvPr id="19" name="Stat value 30,000"/>
          <p:cNvSpPr txBox="1"/>
          <p:nvPr/>
        </p:nvSpPr>
        <p:spPr>
          <a:xfrm>
            <a:off x="7955280" y="3931920"/>
            <a:ext cx="3383280" cy="822960"/>
          </a:xfrm>
          <a:prstGeom prst="rect">
            <a:avLst/>
          </a:prstGeom>
          <a:noFill/>
          <a:ln/>
        </p:spPr>
        <p:txBody>
          <a:bodyPr wrap="square" lIns="0" tIns="0" rIns="0" bIns="0" rtlCol="0" anchor="ctr"/>
          <a:lstStyle/>
          <a:p>
            <a:pPr marL="0" indent="0">
              <a:buNone/>
            </a:pPr>
            <a:r>
              <a:rPr lang="en-US" sz="4800" b="1" dirty="0">
                <a:solidFill>
                  <a:schemeClr val="tx2"/>
                </a:solidFill>
              </a:rPr>
              <a:t>30,000</a:t>
            </a:r>
            <a:endParaRPr lang="en-US" sz="4800" dirty="0"/>
          </a:p>
        </p:txBody>
      </p:sp>
      <p:sp>
        <p:nvSpPr>
          <p:cNvPr id="20" name="Stat label 30,000"/>
          <p:cNvSpPr txBox="1"/>
          <p:nvPr/>
        </p:nvSpPr>
        <p:spPr>
          <a:xfrm>
            <a:off x="7955280" y="4846320"/>
            <a:ext cx="3383280" cy="731520"/>
          </a:xfrm>
          <a:prstGeom prst="rect">
            <a:avLst/>
          </a:prstGeom>
          <a:noFill/>
          <a:ln/>
        </p:spPr>
        <p:txBody>
          <a:bodyPr wrap="square" lIns="0" tIns="0" rIns="0" bIns="0" rtlCol="0" anchor="t"/>
          <a:lstStyle/>
          <a:p>
            <a:pPr marL="0" indent="0">
              <a:buNone/>
            </a:pPr>
            <a:r>
              <a:rPr lang="en-US" sz="1500" dirty="0">
                <a:solidFill>
                  <a:schemeClr val="tx1"/>
                </a:solidFill>
              </a:rPr>
              <a:t>customers to assess, each with 25 raw fields</a:t>
            </a:r>
            <a:endParaRPr lang="en-US" sz="15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3A6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Business need</a:t>
            </a:r>
            <a:endParaRPr lang="en-US" sz="3400" dirty="0"/>
          </a:p>
        </p:txBody>
      </p:sp>
      <p:sp>
        <p:nvSpPr>
          <p:cNvPr id="3" name="Need card Early warning"/>
          <p:cNvSpPr/>
          <p:nvPr/>
        </p:nvSpPr>
        <p:spPr>
          <a:xfrm>
            <a:off x="548640" y="1463040"/>
            <a:ext cx="5440680" cy="2103120"/>
          </a:xfrm>
          <a:prstGeom prst="roundRect">
            <a:avLst>
              <a:gd name="adj" fmla="val 5217"/>
            </a:avLst>
          </a:prstGeom>
          <a:solidFill>
            <a:schemeClr val="bg2"/>
          </a:solidFill>
          <a:ln/>
        </p:spPr>
      </p:sp>
      <p:sp>
        <p:nvSpPr>
          <p:cNvPr id="4" name="Early warning icon circle"/>
          <p:cNvSpPr/>
          <p:nvPr/>
        </p:nvSpPr>
        <p:spPr>
          <a:xfrm>
            <a:off x="822960" y="1737360"/>
            <a:ext cx="640080" cy="640080"/>
          </a:xfrm>
          <a:prstGeom prst="ellipse">
            <a:avLst/>
          </a:prstGeom>
          <a:solidFill>
            <a:schemeClr val="tx2"/>
          </a:solidFill>
          <a:ln/>
        </p:spPr>
      </p:sp>
      <p:pic>
        <p:nvPicPr>
          <p:cNvPr id="5" name="Early warning icon" descr="Early warning icon"/>
          <p:cNvPicPr>
            <a:picLocks noChangeAspect="1"/>
          </p:cNvPicPr>
          <p:nvPr/>
        </p:nvPicPr>
        <p:blipFill>
          <a:blip r:embed="rId3"/>
          <a:stretch>
            <a:fillRect/>
          </a:stretch>
        </p:blipFill>
        <p:spPr>
          <a:xfrm>
            <a:off x="995782" y="1910182"/>
            <a:ext cx="294437" cy="294437"/>
          </a:xfrm>
          <a:prstGeom prst="rect">
            <a:avLst/>
          </a:prstGeom>
        </p:spPr>
      </p:pic>
      <p:sp>
        <p:nvSpPr>
          <p:cNvPr id="6" name="Early warning heading"/>
          <p:cNvSpPr txBox="1"/>
          <p:nvPr/>
        </p:nvSpPr>
        <p:spPr>
          <a:xfrm>
            <a:off x="1645920" y="1737360"/>
            <a:ext cx="4023360" cy="640080"/>
          </a:xfrm>
          <a:prstGeom prst="rect">
            <a:avLst/>
          </a:prstGeom>
          <a:noFill/>
          <a:ln/>
        </p:spPr>
        <p:txBody>
          <a:bodyPr wrap="square" lIns="0" tIns="0" rIns="0" bIns="0" rtlCol="0" anchor="ctr"/>
          <a:lstStyle/>
          <a:p>
            <a:pPr marL="0" indent="0">
              <a:buNone/>
            </a:pPr>
            <a:r>
              <a:rPr lang="en-US" sz="2000" b="1" dirty="0">
                <a:solidFill>
                  <a:schemeClr val="tx2"/>
                </a:solidFill>
              </a:rPr>
              <a:t>Early warning</a:t>
            </a:r>
            <a:endParaRPr lang="en-US" sz="2000" dirty="0"/>
          </a:p>
        </p:txBody>
      </p:sp>
      <p:sp>
        <p:nvSpPr>
          <p:cNvPr id="7" name="Early warning text"/>
          <p:cNvSpPr txBox="1"/>
          <p:nvPr/>
        </p:nvSpPr>
        <p:spPr>
          <a:xfrm>
            <a:off x="822960" y="2606040"/>
            <a:ext cx="4892040" cy="822960"/>
          </a:xfrm>
          <a:prstGeom prst="rect">
            <a:avLst/>
          </a:prstGeom>
          <a:noFill/>
          <a:ln/>
        </p:spPr>
        <p:txBody>
          <a:bodyPr wrap="square" lIns="0" tIns="0" rIns="0" bIns="0" rtlCol="0" anchor="t"/>
          <a:lstStyle/>
          <a:p>
            <a:pPr marL="0" indent="0">
              <a:buNone/>
            </a:pPr>
            <a:r>
              <a:rPr lang="en-US" sz="1500" dirty="0">
                <a:solidFill>
                  <a:schemeClr val="tx1"/>
                </a:solidFill>
              </a:rPr>
              <a:t>Spot customers likely to miss payments before they default, so action can start sooner.</a:t>
            </a:r>
            <a:endParaRPr lang="en-US" sz="1500" dirty="0"/>
          </a:p>
        </p:txBody>
      </p:sp>
      <p:sp>
        <p:nvSpPr>
          <p:cNvPr id="8" name="Need card Explainable decisions"/>
          <p:cNvSpPr/>
          <p:nvPr/>
        </p:nvSpPr>
        <p:spPr>
          <a:xfrm>
            <a:off x="6172200" y="1463040"/>
            <a:ext cx="5440680" cy="2103120"/>
          </a:xfrm>
          <a:prstGeom prst="roundRect">
            <a:avLst>
              <a:gd name="adj" fmla="val 5217"/>
            </a:avLst>
          </a:prstGeom>
          <a:solidFill>
            <a:schemeClr val="bg2"/>
          </a:solidFill>
          <a:ln/>
        </p:spPr>
      </p:sp>
      <p:sp>
        <p:nvSpPr>
          <p:cNvPr id="9" name="Explainable decisions icon circle"/>
          <p:cNvSpPr/>
          <p:nvPr/>
        </p:nvSpPr>
        <p:spPr>
          <a:xfrm>
            <a:off x="6446520" y="1737360"/>
            <a:ext cx="640080" cy="640080"/>
          </a:xfrm>
          <a:prstGeom prst="ellipse">
            <a:avLst/>
          </a:prstGeom>
          <a:solidFill>
            <a:schemeClr val="tx2"/>
          </a:solidFill>
          <a:ln/>
        </p:spPr>
      </p:sp>
      <p:pic>
        <p:nvPicPr>
          <p:cNvPr id="10" name="Explainable decisions icon" descr="Explainable decisions icon"/>
          <p:cNvPicPr>
            <a:picLocks noChangeAspect="1"/>
          </p:cNvPicPr>
          <p:nvPr/>
        </p:nvPicPr>
        <p:blipFill>
          <a:blip r:embed="rId4"/>
          <a:stretch>
            <a:fillRect/>
          </a:stretch>
        </p:blipFill>
        <p:spPr>
          <a:xfrm>
            <a:off x="6619342" y="1910182"/>
            <a:ext cx="294437" cy="294437"/>
          </a:xfrm>
          <a:prstGeom prst="rect">
            <a:avLst/>
          </a:prstGeom>
        </p:spPr>
      </p:pic>
      <p:sp>
        <p:nvSpPr>
          <p:cNvPr id="11" name="Explainable decisions heading"/>
          <p:cNvSpPr txBox="1"/>
          <p:nvPr/>
        </p:nvSpPr>
        <p:spPr>
          <a:xfrm>
            <a:off x="7269480" y="1737360"/>
            <a:ext cx="4023360" cy="640080"/>
          </a:xfrm>
          <a:prstGeom prst="rect">
            <a:avLst/>
          </a:prstGeom>
          <a:noFill/>
          <a:ln/>
        </p:spPr>
        <p:txBody>
          <a:bodyPr wrap="square" lIns="0" tIns="0" rIns="0" bIns="0" rtlCol="0" anchor="ctr"/>
          <a:lstStyle/>
          <a:p>
            <a:pPr marL="0" indent="0">
              <a:buNone/>
            </a:pPr>
            <a:r>
              <a:rPr lang="en-US" sz="2000" b="1" dirty="0">
                <a:solidFill>
                  <a:schemeClr val="tx2"/>
                </a:solidFill>
              </a:rPr>
              <a:t>Explainable decisions</a:t>
            </a:r>
            <a:endParaRPr lang="en-US" sz="2000" dirty="0"/>
          </a:p>
        </p:txBody>
      </p:sp>
      <p:sp>
        <p:nvSpPr>
          <p:cNvPr id="12" name="Explainable decisions text"/>
          <p:cNvSpPr txBox="1"/>
          <p:nvPr/>
        </p:nvSpPr>
        <p:spPr>
          <a:xfrm>
            <a:off x="6446520" y="2606040"/>
            <a:ext cx="4892040" cy="822960"/>
          </a:xfrm>
          <a:prstGeom prst="rect">
            <a:avLst/>
          </a:prstGeom>
          <a:noFill/>
          <a:ln/>
        </p:spPr>
        <p:txBody>
          <a:bodyPr wrap="square" lIns="0" tIns="0" rIns="0" bIns="0" rtlCol="0" anchor="t"/>
          <a:lstStyle/>
          <a:p>
            <a:pPr marL="0" indent="0">
              <a:buNone/>
            </a:pPr>
            <a:r>
              <a:rPr lang="en-US" sz="1500" dirty="0">
                <a:solidFill>
                  <a:schemeClr val="tx1"/>
                </a:solidFill>
              </a:rPr>
              <a:t>Every score traces back to four visible rules, which makes it easy to audit and defend.</a:t>
            </a:r>
            <a:endParaRPr lang="en-US" sz="1500" dirty="0"/>
          </a:p>
        </p:txBody>
      </p:sp>
      <p:sp>
        <p:nvSpPr>
          <p:cNvPr id="13" name="Need card Portfolio visibility"/>
          <p:cNvSpPr/>
          <p:nvPr/>
        </p:nvSpPr>
        <p:spPr>
          <a:xfrm>
            <a:off x="548640" y="3749040"/>
            <a:ext cx="5440680" cy="2103120"/>
          </a:xfrm>
          <a:prstGeom prst="roundRect">
            <a:avLst>
              <a:gd name="adj" fmla="val 5217"/>
            </a:avLst>
          </a:prstGeom>
          <a:solidFill>
            <a:schemeClr val="bg2"/>
          </a:solidFill>
          <a:ln/>
        </p:spPr>
      </p:sp>
      <p:sp>
        <p:nvSpPr>
          <p:cNvPr id="14" name="Portfolio visibility icon circle"/>
          <p:cNvSpPr/>
          <p:nvPr/>
        </p:nvSpPr>
        <p:spPr>
          <a:xfrm>
            <a:off x="822960" y="4023360"/>
            <a:ext cx="640080" cy="640080"/>
          </a:xfrm>
          <a:prstGeom prst="ellipse">
            <a:avLst/>
          </a:prstGeom>
          <a:solidFill>
            <a:schemeClr val="tx2"/>
          </a:solidFill>
          <a:ln/>
        </p:spPr>
      </p:sp>
      <p:pic>
        <p:nvPicPr>
          <p:cNvPr id="15" name="Portfolio visibility icon" descr="Portfolio visibility icon"/>
          <p:cNvPicPr>
            <a:picLocks noChangeAspect="1"/>
          </p:cNvPicPr>
          <p:nvPr/>
        </p:nvPicPr>
        <p:blipFill>
          <a:blip r:embed="rId5"/>
          <a:stretch>
            <a:fillRect/>
          </a:stretch>
        </p:blipFill>
        <p:spPr>
          <a:xfrm>
            <a:off x="995782" y="4196182"/>
            <a:ext cx="294437" cy="294437"/>
          </a:xfrm>
          <a:prstGeom prst="rect">
            <a:avLst/>
          </a:prstGeom>
        </p:spPr>
      </p:pic>
      <p:sp>
        <p:nvSpPr>
          <p:cNvPr id="16" name="Portfolio visibility heading"/>
          <p:cNvSpPr txBox="1"/>
          <p:nvPr/>
        </p:nvSpPr>
        <p:spPr>
          <a:xfrm>
            <a:off x="1645920" y="4023360"/>
            <a:ext cx="4023360" cy="640080"/>
          </a:xfrm>
          <a:prstGeom prst="rect">
            <a:avLst/>
          </a:prstGeom>
          <a:noFill/>
          <a:ln/>
        </p:spPr>
        <p:txBody>
          <a:bodyPr wrap="square" lIns="0" tIns="0" rIns="0" bIns="0" rtlCol="0" anchor="ctr"/>
          <a:lstStyle/>
          <a:p>
            <a:pPr marL="0" indent="0">
              <a:buNone/>
            </a:pPr>
            <a:r>
              <a:rPr lang="en-US" sz="2000" b="1" dirty="0">
                <a:solidFill>
                  <a:schemeClr val="tx2"/>
                </a:solidFill>
              </a:rPr>
              <a:t>Portfolio visibility</a:t>
            </a:r>
            <a:endParaRPr lang="en-US" sz="2000" dirty="0"/>
          </a:p>
        </p:txBody>
      </p:sp>
      <p:sp>
        <p:nvSpPr>
          <p:cNvPr id="17" name="Portfolio visibility text"/>
          <p:cNvSpPr txBox="1"/>
          <p:nvPr/>
        </p:nvSpPr>
        <p:spPr>
          <a:xfrm>
            <a:off x="822960" y="4892040"/>
            <a:ext cx="4892040" cy="822960"/>
          </a:xfrm>
          <a:prstGeom prst="rect">
            <a:avLst/>
          </a:prstGeom>
          <a:noFill/>
          <a:ln/>
        </p:spPr>
        <p:txBody>
          <a:bodyPr wrap="square" lIns="0" tIns="0" rIns="0" bIns="0" rtlCol="0" anchor="t"/>
          <a:lstStyle/>
          <a:p>
            <a:pPr marL="0" indent="0">
              <a:buNone/>
            </a:pPr>
            <a:r>
              <a:rPr lang="en-US" sz="1500" dirty="0">
                <a:solidFill>
                  <a:schemeClr val="tx1"/>
                </a:solidFill>
              </a:rPr>
              <a:t>KPIs, segments and default rates in one place instead of scattered spreadsheets.</a:t>
            </a:r>
            <a:endParaRPr lang="en-US" sz="1500" dirty="0"/>
          </a:p>
        </p:txBody>
      </p:sp>
      <p:sp>
        <p:nvSpPr>
          <p:cNvPr id="18" name="Need card Controlled access"/>
          <p:cNvSpPr/>
          <p:nvPr/>
        </p:nvSpPr>
        <p:spPr>
          <a:xfrm>
            <a:off x="6172200" y="3749040"/>
            <a:ext cx="5440680" cy="2103120"/>
          </a:xfrm>
          <a:prstGeom prst="roundRect">
            <a:avLst>
              <a:gd name="adj" fmla="val 5217"/>
            </a:avLst>
          </a:prstGeom>
          <a:solidFill>
            <a:schemeClr val="bg2"/>
          </a:solidFill>
          <a:ln/>
        </p:spPr>
      </p:sp>
      <p:sp>
        <p:nvSpPr>
          <p:cNvPr id="19" name="Controlled access icon circle"/>
          <p:cNvSpPr/>
          <p:nvPr/>
        </p:nvSpPr>
        <p:spPr>
          <a:xfrm>
            <a:off x="6446520" y="4023360"/>
            <a:ext cx="640080" cy="640080"/>
          </a:xfrm>
          <a:prstGeom prst="ellipse">
            <a:avLst/>
          </a:prstGeom>
          <a:solidFill>
            <a:schemeClr val="tx2"/>
          </a:solidFill>
          <a:ln/>
        </p:spPr>
      </p:sp>
      <p:pic>
        <p:nvPicPr>
          <p:cNvPr id="20" name="Controlled access icon" descr="Controlled access icon"/>
          <p:cNvPicPr>
            <a:picLocks noChangeAspect="1"/>
          </p:cNvPicPr>
          <p:nvPr/>
        </p:nvPicPr>
        <p:blipFill>
          <a:blip r:embed="rId6"/>
          <a:stretch>
            <a:fillRect/>
          </a:stretch>
        </p:blipFill>
        <p:spPr>
          <a:xfrm>
            <a:off x="6619342" y="4196182"/>
            <a:ext cx="294437" cy="294437"/>
          </a:xfrm>
          <a:prstGeom prst="rect">
            <a:avLst/>
          </a:prstGeom>
        </p:spPr>
      </p:pic>
      <p:sp>
        <p:nvSpPr>
          <p:cNvPr id="21" name="Controlled access heading"/>
          <p:cNvSpPr txBox="1"/>
          <p:nvPr/>
        </p:nvSpPr>
        <p:spPr>
          <a:xfrm>
            <a:off x="7269480" y="4023360"/>
            <a:ext cx="4023360" cy="640080"/>
          </a:xfrm>
          <a:prstGeom prst="rect">
            <a:avLst/>
          </a:prstGeom>
          <a:noFill/>
          <a:ln/>
        </p:spPr>
        <p:txBody>
          <a:bodyPr wrap="square" lIns="0" tIns="0" rIns="0" bIns="0" rtlCol="0" anchor="ctr"/>
          <a:lstStyle/>
          <a:p>
            <a:pPr marL="0" indent="0">
              <a:buNone/>
            </a:pPr>
            <a:r>
              <a:rPr lang="en-US" sz="2000" b="1" dirty="0">
                <a:solidFill>
                  <a:schemeClr val="tx2"/>
                </a:solidFill>
              </a:rPr>
              <a:t>Controlled access</a:t>
            </a:r>
            <a:endParaRPr lang="en-US" sz="2000" dirty="0"/>
          </a:p>
        </p:txBody>
      </p:sp>
      <p:sp>
        <p:nvSpPr>
          <p:cNvPr id="22" name="Controlled access text"/>
          <p:cNvSpPr txBox="1"/>
          <p:nvPr/>
        </p:nvSpPr>
        <p:spPr>
          <a:xfrm>
            <a:off x="6446520" y="4892040"/>
            <a:ext cx="4892040" cy="822960"/>
          </a:xfrm>
          <a:prstGeom prst="rect">
            <a:avLst/>
          </a:prstGeom>
          <a:noFill/>
          <a:ln/>
        </p:spPr>
        <p:txBody>
          <a:bodyPr wrap="square" lIns="0" tIns="0" rIns="0" bIns="0" rtlCol="0" anchor="t"/>
          <a:lstStyle/>
          <a:p>
            <a:pPr marL="0" indent="0">
              <a:buNone/>
            </a:pPr>
            <a:r>
              <a:rPr lang="en-US" sz="1500" dirty="0">
                <a:solidFill>
                  <a:schemeClr val="tx1"/>
                </a:solidFill>
              </a:rPr>
              <a:t>Admins, analysts and viewers each see only what their role allows.</a:t>
            </a:r>
            <a:endParaRPr lang="en-US" sz="15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3A6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Solution overview</a:t>
            </a:r>
            <a:endParaRPr lang="en-US" sz="3400" dirty="0"/>
          </a:p>
        </p:txBody>
      </p:sp>
      <p:sp>
        <p:nvSpPr>
          <p:cNvPr id="3" name="Solution card Ingest"/>
          <p:cNvSpPr/>
          <p:nvPr/>
        </p:nvSpPr>
        <p:spPr>
          <a:xfrm>
            <a:off x="548640" y="1417320"/>
            <a:ext cx="2468880" cy="2148840"/>
          </a:xfrm>
          <a:prstGeom prst="roundRect">
            <a:avLst>
              <a:gd name="adj" fmla="val 5106"/>
            </a:avLst>
          </a:prstGeom>
          <a:solidFill>
            <a:schemeClr val="bg2"/>
          </a:solidFill>
          <a:ln/>
        </p:spPr>
      </p:sp>
      <p:sp>
        <p:nvSpPr>
          <p:cNvPr id="4" name="Ingest icon circle"/>
          <p:cNvSpPr/>
          <p:nvPr/>
        </p:nvSpPr>
        <p:spPr>
          <a:xfrm>
            <a:off x="777240" y="1600200"/>
            <a:ext cx="548640" cy="548640"/>
          </a:xfrm>
          <a:prstGeom prst="ellipse">
            <a:avLst/>
          </a:prstGeom>
          <a:solidFill>
            <a:schemeClr val="tx2"/>
          </a:solidFill>
          <a:ln/>
        </p:spPr>
      </p:sp>
      <p:pic>
        <p:nvPicPr>
          <p:cNvPr id="5" name="Ingest icon" descr="Ingest icon"/>
          <p:cNvPicPr>
            <a:picLocks noChangeAspect="1"/>
          </p:cNvPicPr>
          <p:nvPr/>
        </p:nvPicPr>
        <p:blipFill>
          <a:blip r:embed="rId3"/>
          <a:stretch>
            <a:fillRect/>
          </a:stretch>
        </p:blipFill>
        <p:spPr>
          <a:xfrm>
            <a:off x="925373" y="1748333"/>
            <a:ext cx="252374" cy="252374"/>
          </a:xfrm>
          <a:prstGeom prst="rect">
            <a:avLst/>
          </a:prstGeom>
        </p:spPr>
      </p:pic>
      <p:sp>
        <p:nvSpPr>
          <p:cNvPr id="6" name="Ingest heading"/>
          <p:cNvSpPr txBox="1"/>
          <p:nvPr/>
        </p:nvSpPr>
        <p:spPr>
          <a:xfrm>
            <a:off x="1463040" y="1600200"/>
            <a:ext cx="1463040" cy="548640"/>
          </a:xfrm>
          <a:prstGeom prst="rect">
            <a:avLst/>
          </a:prstGeom>
          <a:noFill/>
          <a:ln/>
        </p:spPr>
        <p:txBody>
          <a:bodyPr wrap="square" lIns="0" tIns="0" rIns="0" bIns="0" rtlCol="0" anchor="ctr"/>
          <a:lstStyle/>
          <a:p>
            <a:pPr marL="0" indent="0">
              <a:buNone/>
            </a:pPr>
            <a:r>
              <a:rPr lang="en-US" sz="1800" b="1" dirty="0">
                <a:solidFill>
                  <a:schemeClr val="tx2"/>
                </a:solidFill>
              </a:rPr>
              <a:t>1. Ingest</a:t>
            </a:r>
            <a:endParaRPr lang="en-US" sz="1800" dirty="0"/>
          </a:p>
        </p:txBody>
      </p:sp>
      <p:sp>
        <p:nvSpPr>
          <p:cNvPr id="7" name="Ingest text"/>
          <p:cNvSpPr txBox="1"/>
          <p:nvPr/>
        </p:nvSpPr>
        <p:spPr>
          <a:xfrm>
            <a:off x="777240" y="2331720"/>
            <a:ext cx="2057400" cy="1143000"/>
          </a:xfrm>
          <a:prstGeom prst="rect">
            <a:avLst/>
          </a:prstGeom>
          <a:noFill/>
          <a:ln/>
        </p:spPr>
        <p:txBody>
          <a:bodyPr wrap="square" lIns="0" tIns="0" rIns="0" bIns="0" rtlCol="0" anchor="t"/>
          <a:lstStyle/>
          <a:p>
            <a:pPr marL="0" indent="0">
              <a:buNone/>
            </a:pPr>
            <a:r>
              <a:rPr lang="en-US" sz="1400" dirty="0">
                <a:solidFill>
                  <a:schemeClr val="tx1"/>
                </a:solidFill>
              </a:rPr>
              <a:t>A validated, incremental ETL loads the dataset into MySQL.</a:t>
            </a:r>
            <a:endParaRPr lang="en-US" sz="1400" dirty="0"/>
          </a:p>
        </p:txBody>
      </p:sp>
      <p:sp>
        <p:nvSpPr>
          <p:cNvPr id="8" name="Solution arrow 0"/>
          <p:cNvSpPr/>
          <p:nvPr/>
        </p:nvSpPr>
        <p:spPr>
          <a:xfrm>
            <a:off x="3017520" y="2487168"/>
            <a:ext cx="393192" cy="0"/>
          </a:xfrm>
          <a:prstGeom prst="line">
            <a:avLst/>
          </a:prstGeom>
          <a:noFill/>
          <a:ln w="25400">
            <a:solidFill>
              <a:schemeClr val="tx2"/>
            </a:solidFill>
            <a:prstDash val="solid"/>
            <a:tailEnd type="triangle"/>
          </a:ln>
        </p:spPr>
      </p:sp>
      <p:sp>
        <p:nvSpPr>
          <p:cNvPr id="9" name="Solution card Store"/>
          <p:cNvSpPr/>
          <p:nvPr/>
        </p:nvSpPr>
        <p:spPr>
          <a:xfrm>
            <a:off x="3410712" y="1417320"/>
            <a:ext cx="2468880" cy="2148840"/>
          </a:xfrm>
          <a:prstGeom prst="roundRect">
            <a:avLst>
              <a:gd name="adj" fmla="val 5106"/>
            </a:avLst>
          </a:prstGeom>
          <a:solidFill>
            <a:schemeClr val="bg2"/>
          </a:solidFill>
          <a:ln/>
        </p:spPr>
      </p:sp>
      <p:sp>
        <p:nvSpPr>
          <p:cNvPr id="10" name="Store icon circle"/>
          <p:cNvSpPr/>
          <p:nvPr/>
        </p:nvSpPr>
        <p:spPr>
          <a:xfrm>
            <a:off x="3639312" y="1600200"/>
            <a:ext cx="548640" cy="548640"/>
          </a:xfrm>
          <a:prstGeom prst="ellipse">
            <a:avLst/>
          </a:prstGeom>
          <a:solidFill>
            <a:schemeClr val="tx2"/>
          </a:solidFill>
          <a:ln/>
        </p:spPr>
      </p:sp>
      <p:pic>
        <p:nvPicPr>
          <p:cNvPr id="11" name="Store icon" descr="Store icon"/>
          <p:cNvPicPr>
            <a:picLocks noChangeAspect="1"/>
          </p:cNvPicPr>
          <p:nvPr/>
        </p:nvPicPr>
        <p:blipFill>
          <a:blip r:embed="rId4"/>
          <a:stretch>
            <a:fillRect/>
          </a:stretch>
        </p:blipFill>
        <p:spPr>
          <a:xfrm>
            <a:off x="3787445" y="1748333"/>
            <a:ext cx="252374" cy="252374"/>
          </a:xfrm>
          <a:prstGeom prst="rect">
            <a:avLst/>
          </a:prstGeom>
        </p:spPr>
      </p:pic>
      <p:sp>
        <p:nvSpPr>
          <p:cNvPr id="12" name="Store heading"/>
          <p:cNvSpPr txBox="1"/>
          <p:nvPr/>
        </p:nvSpPr>
        <p:spPr>
          <a:xfrm>
            <a:off x="4325112" y="1600200"/>
            <a:ext cx="1463040" cy="548640"/>
          </a:xfrm>
          <a:prstGeom prst="rect">
            <a:avLst/>
          </a:prstGeom>
          <a:noFill/>
          <a:ln/>
        </p:spPr>
        <p:txBody>
          <a:bodyPr wrap="square" lIns="0" tIns="0" rIns="0" bIns="0" rtlCol="0" anchor="ctr"/>
          <a:lstStyle/>
          <a:p>
            <a:pPr marL="0" indent="0">
              <a:buNone/>
            </a:pPr>
            <a:r>
              <a:rPr lang="en-US" sz="1800" b="1" dirty="0">
                <a:solidFill>
                  <a:schemeClr val="tx2"/>
                </a:solidFill>
              </a:rPr>
              <a:t>2. Store</a:t>
            </a:r>
            <a:endParaRPr lang="en-US" sz="1800" dirty="0"/>
          </a:p>
        </p:txBody>
      </p:sp>
      <p:sp>
        <p:nvSpPr>
          <p:cNvPr id="13" name="Store text"/>
          <p:cNvSpPr txBox="1"/>
          <p:nvPr/>
        </p:nvSpPr>
        <p:spPr>
          <a:xfrm>
            <a:off x="3639312" y="2331720"/>
            <a:ext cx="2057400" cy="1143000"/>
          </a:xfrm>
          <a:prstGeom prst="rect">
            <a:avLst/>
          </a:prstGeom>
          <a:noFill/>
          <a:ln/>
        </p:spPr>
        <p:txBody>
          <a:bodyPr wrap="square" lIns="0" tIns="0" rIns="0" bIns="0" rtlCol="0" anchor="t"/>
          <a:lstStyle/>
          <a:p>
            <a:pPr marL="0" indent="0">
              <a:buNone/>
            </a:pPr>
            <a:r>
              <a:rPr lang="en-US" sz="1400" dirty="0">
                <a:solidFill>
                  <a:schemeClr val="tx1"/>
                </a:solidFill>
              </a:rPr>
              <a:t>MySQL holds customers, credit data, risk results and audit logs.</a:t>
            </a:r>
            <a:endParaRPr lang="en-US" sz="1400" dirty="0"/>
          </a:p>
        </p:txBody>
      </p:sp>
      <p:sp>
        <p:nvSpPr>
          <p:cNvPr id="14" name="Solution arrow 1"/>
          <p:cNvSpPr/>
          <p:nvPr/>
        </p:nvSpPr>
        <p:spPr>
          <a:xfrm>
            <a:off x="5879592" y="2487168"/>
            <a:ext cx="393192" cy="0"/>
          </a:xfrm>
          <a:prstGeom prst="line">
            <a:avLst/>
          </a:prstGeom>
          <a:noFill/>
          <a:ln w="25400">
            <a:solidFill>
              <a:schemeClr val="tx2"/>
            </a:solidFill>
            <a:prstDash val="solid"/>
            <a:tailEnd type="triangle"/>
          </a:ln>
        </p:spPr>
      </p:sp>
      <p:sp>
        <p:nvSpPr>
          <p:cNvPr id="15" name="Solution card Score"/>
          <p:cNvSpPr/>
          <p:nvPr/>
        </p:nvSpPr>
        <p:spPr>
          <a:xfrm>
            <a:off x="6272784" y="1417320"/>
            <a:ext cx="2468880" cy="2148840"/>
          </a:xfrm>
          <a:prstGeom prst="roundRect">
            <a:avLst>
              <a:gd name="adj" fmla="val 5106"/>
            </a:avLst>
          </a:prstGeom>
          <a:solidFill>
            <a:schemeClr val="bg2"/>
          </a:solidFill>
          <a:ln/>
        </p:spPr>
      </p:sp>
      <p:sp>
        <p:nvSpPr>
          <p:cNvPr id="16" name="Score icon circle"/>
          <p:cNvSpPr/>
          <p:nvPr/>
        </p:nvSpPr>
        <p:spPr>
          <a:xfrm>
            <a:off x="6501384" y="1600200"/>
            <a:ext cx="548640" cy="548640"/>
          </a:xfrm>
          <a:prstGeom prst="ellipse">
            <a:avLst/>
          </a:prstGeom>
          <a:solidFill>
            <a:schemeClr val="tx2"/>
          </a:solidFill>
          <a:ln/>
        </p:spPr>
      </p:sp>
      <p:pic>
        <p:nvPicPr>
          <p:cNvPr id="17" name="Score icon" descr="Score icon"/>
          <p:cNvPicPr>
            <a:picLocks noChangeAspect="1"/>
          </p:cNvPicPr>
          <p:nvPr/>
        </p:nvPicPr>
        <p:blipFill>
          <a:blip r:embed="rId5"/>
          <a:stretch>
            <a:fillRect/>
          </a:stretch>
        </p:blipFill>
        <p:spPr>
          <a:xfrm>
            <a:off x="6649517" y="1748333"/>
            <a:ext cx="252374" cy="252374"/>
          </a:xfrm>
          <a:prstGeom prst="rect">
            <a:avLst/>
          </a:prstGeom>
        </p:spPr>
      </p:pic>
      <p:sp>
        <p:nvSpPr>
          <p:cNvPr id="18" name="Score heading"/>
          <p:cNvSpPr txBox="1"/>
          <p:nvPr/>
        </p:nvSpPr>
        <p:spPr>
          <a:xfrm>
            <a:off x="7187184" y="1600200"/>
            <a:ext cx="1463040" cy="548640"/>
          </a:xfrm>
          <a:prstGeom prst="rect">
            <a:avLst/>
          </a:prstGeom>
          <a:noFill/>
          <a:ln/>
        </p:spPr>
        <p:txBody>
          <a:bodyPr wrap="square" lIns="0" tIns="0" rIns="0" bIns="0" rtlCol="0" anchor="ctr"/>
          <a:lstStyle/>
          <a:p>
            <a:pPr marL="0" indent="0">
              <a:buNone/>
            </a:pPr>
            <a:r>
              <a:rPr lang="en-US" sz="1800" b="1" dirty="0">
                <a:solidFill>
                  <a:schemeClr val="tx2"/>
                </a:solidFill>
              </a:rPr>
              <a:t>3. Score</a:t>
            </a:r>
            <a:endParaRPr lang="en-US" sz="1800" dirty="0"/>
          </a:p>
        </p:txBody>
      </p:sp>
      <p:sp>
        <p:nvSpPr>
          <p:cNvPr id="19" name="Score text"/>
          <p:cNvSpPr txBox="1"/>
          <p:nvPr/>
        </p:nvSpPr>
        <p:spPr>
          <a:xfrm>
            <a:off x="6501384" y="2331720"/>
            <a:ext cx="2057400" cy="1143000"/>
          </a:xfrm>
          <a:prstGeom prst="rect">
            <a:avLst/>
          </a:prstGeom>
          <a:noFill/>
          <a:ln/>
        </p:spPr>
        <p:txBody>
          <a:bodyPr wrap="square" lIns="0" tIns="0" rIns="0" bIns="0" rtlCol="0" anchor="t"/>
          <a:lstStyle/>
          <a:p>
            <a:pPr marL="0" indent="0">
              <a:buNone/>
            </a:pPr>
            <a:r>
              <a:rPr lang="en-US" sz="1400" dirty="0">
                <a:solidFill>
                  <a:schemeClr val="tx1"/>
                </a:solidFill>
              </a:rPr>
              <a:t>A rule engine turns four indicators into a 0-11 score and a band.</a:t>
            </a:r>
            <a:endParaRPr lang="en-US" sz="1400" dirty="0"/>
          </a:p>
        </p:txBody>
      </p:sp>
      <p:sp>
        <p:nvSpPr>
          <p:cNvPr id="20" name="Solution arrow 2"/>
          <p:cNvSpPr/>
          <p:nvPr/>
        </p:nvSpPr>
        <p:spPr>
          <a:xfrm>
            <a:off x="8741664" y="2487168"/>
            <a:ext cx="393192" cy="0"/>
          </a:xfrm>
          <a:prstGeom prst="line">
            <a:avLst/>
          </a:prstGeom>
          <a:noFill/>
          <a:ln w="25400">
            <a:solidFill>
              <a:schemeClr val="tx2"/>
            </a:solidFill>
            <a:prstDash val="solid"/>
            <a:tailEnd type="triangle"/>
          </a:ln>
        </p:spPr>
      </p:sp>
      <p:sp>
        <p:nvSpPr>
          <p:cNvPr id="21" name="Solution card Serve"/>
          <p:cNvSpPr/>
          <p:nvPr/>
        </p:nvSpPr>
        <p:spPr>
          <a:xfrm>
            <a:off x="9134856" y="1417320"/>
            <a:ext cx="2468880" cy="2148840"/>
          </a:xfrm>
          <a:prstGeom prst="roundRect">
            <a:avLst>
              <a:gd name="adj" fmla="val 5106"/>
            </a:avLst>
          </a:prstGeom>
          <a:solidFill>
            <a:schemeClr val="bg2"/>
          </a:solidFill>
          <a:ln/>
        </p:spPr>
      </p:sp>
      <p:sp>
        <p:nvSpPr>
          <p:cNvPr id="22" name="Serve icon circle"/>
          <p:cNvSpPr/>
          <p:nvPr/>
        </p:nvSpPr>
        <p:spPr>
          <a:xfrm>
            <a:off x="9363456" y="1600200"/>
            <a:ext cx="548640" cy="548640"/>
          </a:xfrm>
          <a:prstGeom prst="ellipse">
            <a:avLst/>
          </a:prstGeom>
          <a:solidFill>
            <a:schemeClr val="tx2"/>
          </a:solidFill>
          <a:ln/>
        </p:spPr>
      </p:sp>
      <p:pic>
        <p:nvPicPr>
          <p:cNvPr id="23" name="Serve icon" descr="Serve icon"/>
          <p:cNvPicPr>
            <a:picLocks noChangeAspect="1"/>
          </p:cNvPicPr>
          <p:nvPr/>
        </p:nvPicPr>
        <p:blipFill>
          <a:blip r:embed="rId6"/>
          <a:stretch>
            <a:fillRect/>
          </a:stretch>
        </p:blipFill>
        <p:spPr>
          <a:xfrm>
            <a:off x="9511589" y="1748333"/>
            <a:ext cx="252374" cy="252374"/>
          </a:xfrm>
          <a:prstGeom prst="rect">
            <a:avLst/>
          </a:prstGeom>
        </p:spPr>
      </p:pic>
      <p:sp>
        <p:nvSpPr>
          <p:cNvPr id="24" name="Serve heading"/>
          <p:cNvSpPr txBox="1"/>
          <p:nvPr/>
        </p:nvSpPr>
        <p:spPr>
          <a:xfrm>
            <a:off x="10049256" y="1600200"/>
            <a:ext cx="1463040" cy="548640"/>
          </a:xfrm>
          <a:prstGeom prst="rect">
            <a:avLst/>
          </a:prstGeom>
          <a:noFill/>
          <a:ln/>
        </p:spPr>
        <p:txBody>
          <a:bodyPr wrap="square" lIns="0" tIns="0" rIns="0" bIns="0" rtlCol="0" anchor="ctr"/>
          <a:lstStyle/>
          <a:p>
            <a:pPr marL="0" indent="0">
              <a:buNone/>
            </a:pPr>
            <a:r>
              <a:rPr lang="en-US" sz="1800" b="1" dirty="0">
                <a:solidFill>
                  <a:schemeClr val="tx2"/>
                </a:solidFill>
              </a:rPr>
              <a:t>4. Serve</a:t>
            </a:r>
            <a:endParaRPr lang="en-US" sz="1800" dirty="0"/>
          </a:p>
        </p:txBody>
      </p:sp>
      <p:sp>
        <p:nvSpPr>
          <p:cNvPr id="25" name="Serve text"/>
          <p:cNvSpPr txBox="1"/>
          <p:nvPr/>
        </p:nvSpPr>
        <p:spPr>
          <a:xfrm>
            <a:off x="9363456" y="2331720"/>
            <a:ext cx="2057400" cy="1143000"/>
          </a:xfrm>
          <a:prstGeom prst="rect">
            <a:avLst/>
          </a:prstGeom>
          <a:noFill/>
          <a:ln/>
        </p:spPr>
        <p:txBody>
          <a:bodyPr wrap="square" lIns="0" tIns="0" rIns="0" bIns="0" rtlCol="0" anchor="t"/>
          <a:lstStyle/>
          <a:p>
            <a:pPr marL="0" indent="0">
              <a:buNone/>
            </a:pPr>
            <a:r>
              <a:rPr lang="en-US" sz="1400" dirty="0">
                <a:solidFill>
                  <a:schemeClr val="tx1"/>
                </a:solidFill>
              </a:rPr>
              <a:t>FastAPI and Streamlit give role-based dashboards and reports.</a:t>
            </a:r>
            <a:endParaRPr lang="en-US" sz="1400" dirty="0"/>
          </a:p>
        </p:txBody>
      </p:sp>
      <p:sp>
        <p:nvSpPr>
          <p:cNvPr id="26" name="Scoring label"/>
          <p:cNvSpPr txBox="1"/>
          <p:nvPr/>
        </p:nvSpPr>
        <p:spPr>
          <a:xfrm>
            <a:off x="548640" y="3840480"/>
            <a:ext cx="11064240" cy="320040"/>
          </a:xfrm>
          <a:prstGeom prst="rect">
            <a:avLst/>
          </a:prstGeom>
          <a:noFill/>
          <a:ln/>
        </p:spPr>
        <p:txBody>
          <a:bodyPr wrap="square" lIns="0" tIns="0" rIns="0" bIns="0" rtlCol="0" anchor="t"/>
          <a:lstStyle/>
          <a:p>
            <a:pPr marL="0" indent="0">
              <a:buNone/>
            </a:pPr>
            <a:r>
              <a:rPr lang="en-US" sz="1600" b="1" dirty="0">
                <a:solidFill>
                  <a:schemeClr val="tx2"/>
                </a:solidFill>
              </a:rPr>
              <a:t>How risk is scored: four indicators add up to a score from 0 to 11</a:t>
            </a:r>
            <a:endParaRPr lang="en-US" sz="1600" dirty="0"/>
          </a:p>
        </p:txBody>
      </p:sp>
      <p:sp>
        <p:nvSpPr>
          <p:cNvPr id="27" name="Indicator chip Delay frequency"/>
          <p:cNvSpPr txBox="1"/>
          <p:nvPr/>
        </p:nvSpPr>
        <p:spPr>
          <a:xfrm>
            <a:off x="548640" y="4297680"/>
            <a:ext cx="2606040" cy="548640"/>
          </a:xfrm>
          <a:prstGeom prst="roundRect">
            <a:avLst>
              <a:gd name="adj" fmla="val 25000"/>
            </a:avLst>
          </a:prstGeom>
          <a:solidFill>
            <a:schemeClr val="accent1"/>
          </a:solidFill>
          <a:ln/>
        </p:spPr>
        <p:txBody>
          <a:bodyPr wrap="square" lIns="0" tIns="0" rIns="0" bIns="0" rtlCol="0" anchor="ctr"/>
          <a:lstStyle/>
          <a:p>
            <a:pPr marL="0" indent="0" algn="ctr">
              <a:buNone/>
            </a:pPr>
            <a:r>
              <a:rPr lang="en-US" sz="1500" b="1" dirty="0">
                <a:solidFill>
                  <a:schemeClr val="bg1"/>
                </a:solidFill>
              </a:rPr>
              <a:t>Delay frequency</a:t>
            </a:r>
            <a:endParaRPr lang="en-US" sz="1500" dirty="0"/>
          </a:p>
        </p:txBody>
      </p:sp>
      <p:sp>
        <p:nvSpPr>
          <p:cNvPr id="28" name="Indicator chip Delay severity"/>
          <p:cNvSpPr txBox="1"/>
          <p:nvPr/>
        </p:nvSpPr>
        <p:spPr>
          <a:xfrm>
            <a:off x="3364992" y="4297680"/>
            <a:ext cx="2606040" cy="548640"/>
          </a:xfrm>
          <a:prstGeom prst="roundRect">
            <a:avLst>
              <a:gd name="adj" fmla="val 25000"/>
            </a:avLst>
          </a:prstGeom>
          <a:solidFill>
            <a:schemeClr val="accent1"/>
          </a:solidFill>
          <a:ln/>
        </p:spPr>
        <p:txBody>
          <a:bodyPr wrap="square" lIns="0" tIns="0" rIns="0" bIns="0" rtlCol="0" anchor="ctr"/>
          <a:lstStyle/>
          <a:p>
            <a:pPr marL="0" indent="0" algn="ctr">
              <a:buNone/>
            </a:pPr>
            <a:r>
              <a:rPr lang="en-US" sz="1500" b="1" dirty="0">
                <a:solidFill>
                  <a:schemeClr val="bg1"/>
                </a:solidFill>
              </a:rPr>
              <a:t>Delay severity</a:t>
            </a:r>
            <a:endParaRPr lang="en-US" sz="1500" dirty="0"/>
          </a:p>
        </p:txBody>
      </p:sp>
      <p:sp>
        <p:nvSpPr>
          <p:cNvPr id="29" name="Indicator chip Credit utilization"/>
          <p:cNvSpPr txBox="1"/>
          <p:nvPr/>
        </p:nvSpPr>
        <p:spPr>
          <a:xfrm>
            <a:off x="6181344" y="4297680"/>
            <a:ext cx="2606040" cy="548640"/>
          </a:xfrm>
          <a:prstGeom prst="roundRect">
            <a:avLst>
              <a:gd name="adj" fmla="val 25000"/>
            </a:avLst>
          </a:prstGeom>
          <a:solidFill>
            <a:schemeClr val="accent1"/>
          </a:solidFill>
          <a:ln/>
        </p:spPr>
        <p:txBody>
          <a:bodyPr wrap="square" lIns="0" tIns="0" rIns="0" bIns="0" rtlCol="0" anchor="ctr"/>
          <a:lstStyle/>
          <a:p>
            <a:pPr marL="0" indent="0" algn="ctr">
              <a:buNone/>
            </a:pPr>
            <a:r>
              <a:rPr lang="en-US" sz="1500" b="1" dirty="0">
                <a:solidFill>
                  <a:schemeClr val="bg1"/>
                </a:solidFill>
              </a:rPr>
              <a:t>Credit utilization</a:t>
            </a:r>
            <a:endParaRPr lang="en-US" sz="1500" dirty="0"/>
          </a:p>
        </p:txBody>
      </p:sp>
      <p:sp>
        <p:nvSpPr>
          <p:cNvPr id="30" name="Indicator chip Payment behavior"/>
          <p:cNvSpPr txBox="1"/>
          <p:nvPr/>
        </p:nvSpPr>
        <p:spPr>
          <a:xfrm>
            <a:off x="8997696" y="4297680"/>
            <a:ext cx="2606040" cy="548640"/>
          </a:xfrm>
          <a:prstGeom prst="roundRect">
            <a:avLst>
              <a:gd name="adj" fmla="val 25000"/>
            </a:avLst>
          </a:prstGeom>
          <a:solidFill>
            <a:schemeClr val="accent1"/>
          </a:solidFill>
          <a:ln/>
        </p:spPr>
        <p:txBody>
          <a:bodyPr wrap="square" lIns="0" tIns="0" rIns="0" bIns="0" rtlCol="0" anchor="ctr"/>
          <a:lstStyle/>
          <a:p>
            <a:pPr marL="0" indent="0" algn="ctr">
              <a:buNone/>
            </a:pPr>
            <a:r>
              <a:rPr lang="en-US" sz="1500" b="1" dirty="0">
                <a:solidFill>
                  <a:schemeClr val="bg1"/>
                </a:solidFill>
              </a:rPr>
              <a:t>Payment behavior</a:t>
            </a:r>
            <a:endParaRPr lang="en-US" sz="1500" dirty="0"/>
          </a:p>
        </p:txBody>
      </p:sp>
      <p:sp>
        <p:nvSpPr>
          <p:cNvPr id="31" name="Band tile LOW"/>
          <p:cNvSpPr/>
          <p:nvPr/>
        </p:nvSpPr>
        <p:spPr>
          <a:xfrm>
            <a:off x="548640" y="5166360"/>
            <a:ext cx="3566160" cy="777240"/>
          </a:xfrm>
          <a:prstGeom prst="roundRect">
            <a:avLst>
              <a:gd name="adj" fmla="val 14118"/>
            </a:avLst>
          </a:prstGeom>
          <a:solidFill>
            <a:schemeClr val="accent5"/>
          </a:solidFill>
          <a:ln/>
        </p:spPr>
      </p:sp>
      <p:sp>
        <p:nvSpPr>
          <p:cNvPr id="32" name="Band name LOW"/>
          <p:cNvSpPr txBox="1"/>
          <p:nvPr/>
        </p:nvSpPr>
        <p:spPr>
          <a:xfrm>
            <a:off x="822960" y="5166360"/>
            <a:ext cx="1645920" cy="777240"/>
          </a:xfrm>
          <a:prstGeom prst="rect">
            <a:avLst/>
          </a:prstGeom>
          <a:noFill/>
          <a:ln/>
        </p:spPr>
        <p:txBody>
          <a:bodyPr wrap="square" lIns="0" tIns="0" rIns="0" bIns="0" rtlCol="0" anchor="ctr"/>
          <a:lstStyle/>
          <a:p>
            <a:pPr marL="0" indent="0">
              <a:buNone/>
            </a:pPr>
            <a:r>
              <a:rPr lang="en-US" sz="2000" b="1" dirty="0">
                <a:solidFill>
                  <a:schemeClr val="bg1"/>
                </a:solidFill>
              </a:rPr>
              <a:t>LOW</a:t>
            </a:r>
            <a:endParaRPr lang="en-US" sz="2000" dirty="0"/>
          </a:p>
        </p:txBody>
      </p:sp>
      <p:sp>
        <p:nvSpPr>
          <p:cNvPr id="33" name="Band range LOW"/>
          <p:cNvSpPr txBox="1"/>
          <p:nvPr/>
        </p:nvSpPr>
        <p:spPr>
          <a:xfrm>
            <a:off x="2560320" y="5166360"/>
            <a:ext cx="1280160" cy="777240"/>
          </a:xfrm>
          <a:prstGeom prst="rect">
            <a:avLst/>
          </a:prstGeom>
          <a:noFill/>
          <a:ln/>
        </p:spPr>
        <p:txBody>
          <a:bodyPr wrap="square" lIns="0" tIns="0" rIns="0" bIns="0" rtlCol="0" anchor="ctr"/>
          <a:lstStyle/>
          <a:p>
            <a:pPr marL="0" indent="0" algn="r">
              <a:buNone/>
            </a:pPr>
            <a:r>
              <a:rPr lang="en-US" sz="1500" dirty="0">
                <a:solidFill>
                  <a:schemeClr val="bg1"/>
                </a:solidFill>
              </a:rPr>
              <a:t>score 0-2</a:t>
            </a:r>
            <a:endParaRPr lang="en-US" sz="1500" dirty="0"/>
          </a:p>
        </p:txBody>
      </p:sp>
      <p:sp>
        <p:nvSpPr>
          <p:cNvPr id="34" name="Band tile MEDIUM"/>
          <p:cNvSpPr/>
          <p:nvPr/>
        </p:nvSpPr>
        <p:spPr>
          <a:xfrm>
            <a:off x="4297680" y="5166360"/>
            <a:ext cx="3566160" cy="777240"/>
          </a:xfrm>
          <a:prstGeom prst="roundRect">
            <a:avLst>
              <a:gd name="adj" fmla="val 14118"/>
            </a:avLst>
          </a:prstGeom>
          <a:solidFill>
            <a:schemeClr val="accent3"/>
          </a:solidFill>
          <a:ln/>
        </p:spPr>
      </p:sp>
      <p:sp>
        <p:nvSpPr>
          <p:cNvPr id="35" name="Band name MEDIUM"/>
          <p:cNvSpPr txBox="1"/>
          <p:nvPr/>
        </p:nvSpPr>
        <p:spPr>
          <a:xfrm>
            <a:off x="4572000" y="5166360"/>
            <a:ext cx="1645920" cy="777240"/>
          </a:xfrm>
          <a:prstGeom prst="rect">
            <a:avLst/>
          </a:prstGeom>
          <a:noFill/>
          <a:ln/>
        </p:spPr>
        <p:txBody>
          <a:bodyPr wrap="square" lIns="0" tIns="0" rIns="0" bIns="0" rtlCol="0" anchor="ctr"/>
          <a:lstStyle/>
          <a:p>
            <a:pPr marL="0" indent="0">
              <a:buNone/>
            </a:pPr>
            <a:r>
              <a:rPr lang="en-US" sz="2000" b="1" dirty="0">
                <a:solidFill>
                  <a:schemeClr val="tx1"/>
                </a:solidFill>
              </a:rPr>
              <a:t>MEDIUM</a:t>
            </a:r>
            <a:endParaRPr lang="en-US" sz="2000" dirty="0"/>
          </a:p>
        </p:txBody>
      </p:sp>
      <p:sp>
        <p:nvSpPr>
          <p:cNvPr id="36" name="Band range MEDIUM"/>
          <p:cNvSpPr txBox="1"/>
          <p:nvPr/>
        </p:nvSpPr>
        <p:spPr>
          <a:xfrm>
            <a:off x="6309360" y="5166360"/>
            <a:ext cx="1280160" cy="777240"/>
          </a:xfrm>
          <a:prstGeom prst="rect">
            <a:avLst/>
          </a:prstGeom>
          <a:noFill/>
          <a:ln/>
        </p:spPr>
        <p:txBody>
          <a:bodyPr wrap="square" lIns="0" tIns="0" rIns="0" bIns="0" rtlCol="0" anchor="ctr"/>
          <a:lstStyle/>
          <a:p>
            <a:pPr marL="0" indent="0" algn="r">
              <a:buNone/>
            </a:pPr>
            <a:r>
              <a:rPr lang="en-US" sz="1500" dirty="0">
                <a:solidFill>
                  <a:schemeClr val="tx1"/>
                </a:solidFill>
              </a:rPr>
              <a:t>score 3-5</a:t>
            </a:r>
            <a:endParaRPr lang="en-US" sz="1500" dirty="0"/>
          </a:p>
        </p:txBody>
      </p:sp>
      <p:sp>
        <p:nvSpPr>
          <p:cNvPr id="37" name="Band tile HIGH"/>
          <p:cNvSpPr/>
          <p:nvPr/>
        </p:nvSpPr>
        <p:spPr>
          <a:xfrm>
            <a:off x="8046720" y="5166360"/>
            <a:ext cx="3566160" cy="777240"/>
          </a:xfrm>
          <a:prstGeom prst="roundRect">
            <a:avLst>
              <a:gd name="adj" fmla="val 14118"/>
            </a:avLst>
          </a:prstGeom>
          <a:solidFill>
            <a:schemeClr val="accent4"/>
          </a:solidFill>
          <a:ln/>
        </p:spPr>
      </p:sp>
      <p:sp>
        <p:nvSpPr>
          <p:cNvPr id="38" name="Band name HIGH"/>
          <p:cNvSpPr txBox="1"/>
          <p:nvPr/>
        </p:nvSpPr>
        <p:spPr>
          <a:xfrm>
            <a:off x="8321040" y="5166360"/>
            <a:ext cx="1645920" cy="777240"/>
          </a:xfrm>
          <a:prstGeom prst="rect">
            <a:avLst/>
          </a:prstGeom>
          <a:noFill/>
          <a:ln/>
        </p:spPr>
        <p:txBody>
          <a:bodyPr wrap="square" lIns="0" tIns="0" rIns="0" bIns="0" rtlCol="0" anchor="ctr"/>
          <a:lstStyle/>
          <a:p>
            <a:pPr marL="0" indent="0">
              <a:buNone/>
            </a:pPr>
            <a:r>
              <a:rPr lang="en-US" sz="2000" b="1" dirty="0">
                <a:solidFill>
                  <a:schemeClr val="bg1"/>
                </a:solidFill>
              </a:rPr>
              <a:t>HIGH</a:t>
            </a:r>
            <a:endParaRPr lang="en-US" sz="2000" dirty="0"/>
          </a:p>
        </p:txBody>
      </p:sp>
      <p:sp>
        <p:nvSpPr>
          <p:cNvPr id="39" name="Band range HIGH"/>
          <p:cNvSpPr txBox="1"/>
          <p:nvPr/>
        </p:nvSpPr>
        <p:spPr>
          <a:xfrm>
            <a:off x="10058400" y="5166360"/>
            <a:ext cx="1280160" cy="777240"/>
          </a:xfrm>
          <a:prstGeom prst="rect">
            <a:avLst/>
          </a:prstGeom>
          <a:noFill/>
          <a:ln/>
        </p:spPr>
        <p:txBody>
          <a:bodyPr wrap="square" lIns="0" tIns="0" rIns="0" bIns="0" rtlCol="0" anchor="ctr"/>
          <a:lstStyle/>
          <a:p>
            <a:pPr marL="0" indent="0" algn="r">
              <a:buNone/>
            </a:pPr>
            <a:r>
              <a:rPr lang="en-US" sz="1500" dirty="0">
                <a:solidFill>
                  <a:schemeClr val="bg1"/>
                </a:solidFill>
              </a:rPr>
              <a:t>score 6-11</a:t>
            </a:r>
            <a:endParaRPr lang="en-US" sz="1500" dirty="0"/>
          </a:p>
        </p:txBody>
      </p:sp>
      <p:sp>
        <p:nvSpPr>
          <p:cNvPr id="40"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3A6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Architecture</a:t>
            </a:r>
            <a:endParaRPr lang="en-US" sz="3400" dirty="0"/>
          </a:p>
        </p:txBody>
      </p:sp>
      <p:sp>
        <p:nvSpPr>
          <p:cNvPr id="4" name="Takeaway number 1"/>
          <p:cNvSpPr txBox="1"/>
          <p:nvPr/>
        </p:nvSpPr>
        <p:spPr>
          <a:xfrm>
            <a:off x="8412480" y="1417320"/>
            <a:ext cx="457200" cy="45720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5" name="Takeaway heading 1"/>
          <p:cNvSpPr txBox="1"/>
          <p:nvPr/>
        </p:nvSpPr>
        <p:spPr>
          <a:xfrm>
            <a:off x="9052560" y="1417320"/>
            <a:ext cx="2560320" cy="365760"/>
          </a:xfrm>
          <a:prstGeom prst="rect">
            <a:avLst/>
          </a:prstGeom>
          <a:noFill/>
          <a:ln/>
        </p:spPr>
        <p:txBody>
          <a:bodyPr wrap="square" lIns="0" tIns="0" rIns="0" bIns="0" rtlCol="0" anchor="ctr"/>
          <a:lstStyle/>
          <a:p>
            <a:pPr marL="0" indent="0">
              <a:buNone/>
            </a:pPr>
            <a:r>
              <a:rPr lang="en-US" sz="1800" b="1" dirty="0">
                <a:solidFill>
                  <a:schemeClr val="tx2"/>
                </a:solidFill>
              </a:rPr>
              <a:t>Data flow</a:t>
            </a:r>
            <a:endParaRPr lang="en-US" sz="1800" dirty="0"/>
          </a:p>
        </p:txBody>
      </p:sp>
      <p:sp>
        <p:nvSpPr>
          <p:cNvPr id="6" name="Takeaway text 1"/>
          <p:cNvSpPr txBox="1"/>
          <p:nvPr/>
        </p:nvSpPr>
        <p:spPr>
          <a:xfrm>
            <a:off x="9052560" y="1874520"/>
            <a:ext cx="2560320" cy="1097280"/>
          </a:xfrm>
          <a:prstGeom prst="rect">
            <a:avLst/>
          </a:prstGeom>
          <a:noFill/>
          <a:ln/>
        </p:spPr>
        <p:txBody>
          <a:bodyPr wrap="square" lIns="0" tIns="0" rIns="0" bIns="0" rtlCol="0" anchor="t"/>
          <a:lstStyle/>
          <a:p>
            <a:pPr marL="0" indent="0">
              <a:buNone/>
            </a:pPr>
            <a:r>
              <a:rPr lang="en-US" sz="1400" dirty="0">
                <a:solidFill>
                  <a:schemeClr val="tx1"/>
                </a:solidFill>
              </a:rPr>
              <a:t>Source, ETL, MySQL, FastAPI, then the web dashboard.</a:t>
            </a:r>
            <a:endParaRPr lang="en-US" sz="1400" dirty="0"/>
          </a:p>
        </p:txBody>
      </p:sp>
      <p:sp>
        <p:nvSpPr>
          <p:cNvPr id="7" name="Takeaway number 2"/>
          <p:cNvSpPr txBox="1"/>
          <p:nvPr/>
        </p:nvSpPr>
        <p:spPr>
          <a:xfrm>
            <a:off x="8412480" y="3063240"/>
            <a:ext cx="457200" cy="45720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8" name="Takeaway heading 2"/>
          <p:cNvSpPr txBox="1"/>
          <p:nvPr/>
        </p:nvSpPr>
        <p:spPr>
          <a:xfrm>
            <a:off x="9052560" y="3063240"/>
            <a:ext cx="2560320" cy="365760"/>
          </a:xfrm>
          <a:prstGeom prst="rect">
            <a:avLst/>
          </a:prstGeom>
          <a:noFill/>
          <a:ln/>
        </p:spPr>
        <p:txBody>
          <a:bodyPr wrap="square" lIns="0" tIns="0" rIns="0" bIns="0" rtlCol="0" anchor="ctr"/>
          <a:lstStyle/>
          <a:p>
            <a:pPr marL="0" indent="0">
              <a:buNone/>
            </a:pPr>
            <a:r>
              <a:rPr lang="en-US" sz="1800" b="1" dirty="0">
                <a:solidFill>
                  <a:schemeClr val="tx2"/>
                </a:solidFill>
              </a:rPr>
              <a:t>Risk engine</a:t>
            </a:r>
            <a:endParaRPr lang="en-US" sz="1800" dirty="0"/>
          </a:p>
        </p:txBody>
      </p:sp>
      <p:sp>
        <p:nvSpPr>
          <p:cNvPr id="9" name="Takeaway text 2"/>
          <p:cNvSpPr txBox="1"/>
          <p:nvPr/>
        </p:nvSpPr>
        <p:spPr>
          <a:xfrm>
            <a:off x="9052560" y="3520440"/>
            <a:ext cx="2560320" cy="1097280"/>
          </a:xfrm>
          <a:prstGeom prst="rect">
            <a:avLst/>
          </a:prstGeom>
          <a:noFill/>
          <a:ln/>
        </p:spPr>
        <p:txBody>
          <a:bodyPr wrap="square" lIns="0" tIns="0" rIns="0" bIns="0" rtlCol="0" anchor="t"/>
          <a:lstStyle/>
          <a:p>
            <a:pPr marL="0" indent="0">
              <a:buNone/>
            </a:pPr>
            <a:r>
              <a:rPr lang="en-US" sz="1400" dirty="0">
                <a:solidFill>
                  <a:schemeClr val="tx1"/>
                </a:solidFill>
              </a:rPr>
              <a:t>Four rule-based indicators are combined into a score and a band, stored in MySQL.</a:t>
            </a:r>
            <a:endParaRPr lang="en-US" sz="1400" dirty="0"/>
          </a:p>
        </p:txBody>
      </p:sp>
      <p:sp>
        <p:nvSpPr>
          <p:cNvPr id="10" name="Takeaway number 3"/>
          <p:cNvSpPr txBox="1"/>
          <p:nvPr/>
        </p:nvSpPr>
        <p:spPr>
          <a:xfrm>
            <a:off x="8412480" y="4709160"/>
            <a:ext cx="457200" cy="45720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1" name="Takeaway heading 3"/>
          <p:cNvSpPr txBox="1"/>
          <p:nvPr/>
        </p:nvSpPr>
        <p:spPr>
          <a:xfrm>
            <a:off x="9052560" y="4709160"/>
            <a:ext cx="2560320" cy="365760"/>
          </a:xfrm>
          <a:prstGeom prst="rect">
            <a:avLst/>
          </a:prstGeom>
          <a:noFill/>
          <a:ln/>
        </p:spPr>
        <p:txBody>
          <a:bodyPr wrap="square" lIns="0" tIns="0" rIns="0" bIns="0" rtlCol="0" anchor="ctr"/>
          <a:lstStyle/>
          <a:p>
            <a:pPr marL="0" indent="0">
              <a:buNone/>
            </a:pPr>
            <a:r>
              <a:rPr lang="en-US" sz="1800" b="1" dirty="0">
                <a:solidFill>
                  <a:schemeClr val="tx2"/>
                </a:solidFill>
              </a:rPr>
              <a:t>Users</a:t>
            </a:r>
            <a:endParaRPr lang="en-US" sz="1800" dirty="0"/>
          </a:p>
        </p:txBody>
      </p:sp>
      <p:sp>
        <p:nvSpPr>
          <p:cNvPr id="12" name="Takeaway text 3"/>
          <p:cNvSpPr txBox="1"/>
          <p:nvPr/>
        </p:nvSpPr>
        <p:spPr>
          <a:xfrm>
            <a:off x="9052560" y="5166360"/>
            <a:ext cx="2560320" cy="1097280"/>
          </a:xfrm>
          <a:prstGeom prst="rect">
            <a:avLst/>
          </a:prstGeom>
          <a:noFill/>
          <a:ln/>
        </p:spPr>
        <p:txBody>
          <a:bodyPr wrap="square" lIns="0" tIns="0" rIns="0" bIns="0" rtlCol="0" anchor="t"/>
          <a:lstStyle/>
          <a:p>
            <a:pPr marL="0" indent="0">
              <a:buNone/>
            </a:pPr>
            <a:r>
              <a:rPr lang="en-US" sz="1400" dirty="0">
                <a:solidFill>
                  <a:schemeClr val="tx1"/>
                </a:solidFill>
              </a:rPr>
              <a:t>Analysts and administrators get role-based access.</a:t>
            </a:r>
            <a:endParaRPr lang="en-US" sz="14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3A66"/>
                </a:solidFill>
              </a:defRPr>
            </a:lvl1pPr>
          </a:lstStyle>
          <a:p>
            <a:pPr algn="r"/>
            <a:fld id="{F7021451-1387-4CA6-816F-3879F97B5CBC}" type="slidenum">
              <a:rPr lang="en-US" b="0"/>
              <a:t>5</a:t>
            </a:fld>
            <a:endParaRPr lang="en-US"/>
          </a:p>
        </p:txBody>
      </p:sp>
      <p:pic>
        <p:nvPicPr>
          <p:cNvPr id="13" name="Picture 12" descr="A diagram of a credit card analysis system&#10;&#10;AI-generated content may be incorrect.">
            <a:extLst>
              <a:ext uri="{FF2B5EF4-FFF2-40B4-BE49-F238E27FC236}">
                <a16:creationId xmlns:a16="http://schemas.microsoft.com/office/drawing/2014/main" id="{F41F9E27-B6DA-A354-F888-38CDE6CF8ECE}"/>
              </a:ext>
            </a:extLst>
          </p:cNvPr>
          <p:cNvPicPr>
            <a:picLocks noChangeAspect="1"/>
          </p:cNvPicPr>
          <p:nvPr/>
        </p:nvPicPr>
        <p:blipFill>
          <a:blip r:embed="rId3"/>
          <a:stretch>
            <a:fillRect/>
          </a:stretch>
        </p:blipFill>
        <p:spPr>
          <a:xfrm>
            <a:off x="236404" y="1074144"/>
            <a:ext cx="7900013" cy="518710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Data flow: end to end</a:t>
            </a:r>
            <a:endParaRPr lang="en-US" sz="3400" dirty="0"/>
          </a:p>
        </p:txBody>
      </p:sp>
      <p:sp>
        <p:nvSpPr>
          <p:cNvPr id="3" name="Lane label A. Data loading (batch ETL)"/>
          <p:cNvSpPr txBox="1"/>
          <p:nvPr/>
        </p:nvSpPr>
        <p:spPr>
          <a:xfrm>
            <a:off x="548640" y="1435608"/>
            <a:ext cx="5486400" cy="274320"/>
          </a:xfrm>
          <a:prstGeom prst="rect">
            <a:avLst/>
          </a:prstGeom>
          <a:noFill/>
          <a:ln/>
        </p:spPr>
        <p:txBody>
          <a:bodyPr wrap="square" lIns="0" tIns="0" rIns="0" bIns="0" rtlCol="0" anchor="t"/>
          <a:lstStyle/>
          <a:p>
            <a:pPr marL="0" indent="0">
              <a:buNone/>
            </a:pPr>
            <a:r>
              <a:rPr lang="en-US" sz="1400" b="1" dirty="0">
                <a:solidFill>
                  <a:schemeClr val="tx2"/>
                </a:solidFill>
              </a:rPr>
              <a:t>A. Data loading (batch ETL)</a:t>
            </a:r>
            <a:endParaRPr lang="en-US" sz="1400" dirty="0"/>
          </a:p>
        </p:txBody>
      </p:sp>
      <p:sp>
        <p:nvSpPr>
          <p:cNvPr id="4" name="Node Dataset"/>
          <p:cNvSpPr txBox="1"/>
          <p:nvPr/>
        </p:nvSpPr>
        <p:spPr>
          <a:xfrm>
            <a:off x="548640" y="1783080"/>
            <a:ext cx="2468880" cy="914400"/>
          </a:xfrm>
          <a:prstGeom prst="roundRect">
            <a:avLst>
              <a:gd name="adj" fmla="val 12000"/>
            </a:avLst>
          </a:prstGeom>
          <a:solidFill>
            <a:schemeClr val="tx2"/>
          </a:solidFill>
          <a:ln/>
        </p:spPr>
        <p:txBody>
          <a:bodyPr wrap="square" lIns="635" tIns="635" rIns="635" bIns="635" rtlCol="0" anchor="ctr"/>
          <a:lstStyle/>
          <a:p>
            <a:pPr marL="0" indent="0" algn="ctr">
              <a:buNone/>
            </a:pPr>
            <a:r>
              <a:rPr lang="en-US" sz="1600" b="1" dirty="0">
                <a:solidFill>
                  <a:schemeClr val="bg1"/>
                </a:solidFill>
              </a:rPr>
              <a:t>Dataset</a:t>
            </a:r>
            <a:endParaRPr lang="en-US" sz="1600" dirty="0"/>
          </a:p>
          <a:p>
            <a:pPr marL="0" indent="0" algn="ctr">
              <a:buNone/>
            </a:pPr>
            <a:r>
              <a:rPr lang="en-US" sz="1300" dirty="0">
                <a:solidFill>
                  <a:schemeClr val="bg1"/>
                </a:solidFill>
              </a:rPr>
              <a:t>UCI .xls file</a:t>
            </a:r>
            <a:endParaRPr lang="en-US" sz="1600" dirty="0"/>
          </a:p>
        </p:txBody>
      </p:sp>
      <p:sp>
        <p:nvSpPr>
          <p:cNvPr id="5" name="Node ETL"/>
          <p:cNvSpPr txBox="1"/>
          <p:nvPr/>
        </p:nvSpPr>
        <p:spPr>
          <a:xfrm>
            <a:off x="3383280" y="1783080"/>
            <a:ext cx="2468880" cy="914400"/>
          </a:xfrm>
          <a:prstGeom prst="roundRect">
            <a:avLst>
              <a:gd name="adj" fmla="val 12000"/>
            </a:avLst>
          </a:prstGeom>
          <a:solidFill>
            <a:schemeClr val="accent6"/>
          </a:solidFill>
          <a:ln/>
        </p:spPr>
        <p:txBody>
          <a:bodyPr wrap="square" lIns="635" tIns="635" rIns="635" bIns="635" rtlCol="0" anchor="ctr"/>
          <a:lstStyle/>
          <a:p>
            <a:pPr marL="0" indent="0" algn="ctr">
              <a:buNone/>
            </a:pPr>
            <a:r>
              <a:rPr lang="en-US" sz="1600" b="1" dirty="0">
                <a:solidFill>
                  <a:schemeClr val="bg1"/>
                </a:solidFill>
              </a:rPr>
              <a:t>ETL</a:t>
            </a:r>
            <a:endParaRPr lang="en-US" sz="1600" dirty="0"/>
          </a:p>
          <a:p>
            <a:pPr marL="0" indent="0" algn="ctr">
              <a:buNone/>
            </a:pPr>
            <a:r>
              <a:rPr lang="en-US" sz="1300" dirty="0">
                <a:solidFill>
                  <a:schemeClr val="bg1"/>
                </a:solidFill>
              </a:rPr>
              <a:t>clean + derive</a:t>
            </a:r>
            <a:endParaRPr lang="en-US" sz="1600" dirty="0"/>
          </a:p>
        </p:txBody>
      </p:sp>
      <p:sp>
        <p:nvSpPr>
          <p:cNvPr id="6" name="Node Delta load"/>
          <p:cNvSpPr txBox="1"/>
          <p:nvPr/>
        </p:nvSpPr>
        <p:spPr>
          <a:xfrm>
            <a:off x="6217920" y="1783080"/>
            <a:ext cx="2468880" cy="914400"/>
          </a:xfrm>
          <a:prstGeom prst="roundRect">
            <a:avLst>
              <a:gd name="adj" fmla="val 12000"/>
            </a:avLst>
          </a:prstGeom>
          <a:solidFill>
            <a:schemeClr val="accent6"/>
          </a:solidFill>
          <a:ln/>
        </p:spPr>
        <p:txBody>
          <a:bodyPr wrap="square" lIns="635" tIns="635" rIns="635" bIns="635" rtlCol="0" anchor="ctr"/>
          <a:lstStyle/>
          <a:p>
            <a:pPr algn="ctr"/>
            <a:r>
              <a:rPr lang="en-US" sz="1600" b="1">
                <a:solidFill>
                  <a:schemeClr val="bg1"/>
                </a:solidFill>
              </a:rPr>
              <a:t>Incremental load</a:t>
            </a:r>
            <a:endParaRPr lang="en-US" sz="1600" dirty="0">
              <a:solidFill>
                <a:schemeClr val="bg1"/>
              </a:solidFill>
            </a:endParaRPr>
          </a:p>
          <a:p>
            <a:pPr marL="0" indent="0" algn="ctr">
              <a:buNone/>
            </a:pPr>
            <a:r>
              <a:rPr lang="en-US" sz="1300" dirty="0">
                <a:solidFill>
                  <a:schemeClr val="bg1"/>
                </a:solidFill>
              </a:rPr>
              <a:t>new + changed rows</a:t>
            </a:r>
            <a:endParaRPr lang="en-US" sz="1600" dirty="0"/>
          </a:p>
        </p:txBody>
      </p:sp>
      <p:sp>
        <p:nvSpPr>
          <p:cNvPr id="7" name="Arrow A. Data loading (batch ETL) 0"/>
          <p:cNvSpPr/>
          <p:nvPr/>
        </p:nvSpPr>
        <p:spPr>
          <a:xfrm>
            <a:off x="3017520" y="2240280"/>
            <a:ext cx="365760" cy="0"/>
          </a:xfrm>
          <a:prstGeom prst="line">
            <a:avLst/>
          </a:prstGeom>
          <a:noFill/>
          <a:ln w="25400">
            <a:solidFill>
              <a:schemeClr val="tx2"/>
            </a:solidFill>
            <a:prstDash val="solid"/>
            <a:tailEnd type="triangle"/>
          </a:ln>
        </p:spPr>
      </p:sp>
      <p:sp>
        <p:nvSpPr>
          <p:cNvPr id="8" name="Arrow A. Data loading (batch ETL) 1"/>
          <p:cNvSpPr/>
          <p:nvPr/>
        </p:nvSpPr>
        <p:spPr>
          <a:xfrm>
            <a:off x="5852160" y="2240280"/>
            <a:ext cx="365760" cy="0"/>
          </a:xfrm>
          <a:prstGeom prst="line">
            <a:avLst/>
          </a:prstGeom>
          <a:noFill/>
          <a:ln w="25400">
            <a:solidFill>
              <a:schemeClr val="tx2"/>
            </a:solidFill>
            <a:prstDash val="solid"/>
            <a:tailEnd type="triangle"/>
          </a:ln>
        </p:spPr>
      </p:sp>
      <p:sp>
        <p:nvSpPr>
          <p:cNvPr id="9" name="Arrow A. Data loading (batch ETL) 2"/>
          <p:cNvSpPr/>
          <p:nvPr/>
        </p:nvSpPr>
        <p:spPr>
          <a:xfrm>
            <a:off x="8686800" y="2240280"/>
            <a:ext cx="457200" cy="0"/>
          </a:xfrm>
          <a:prstGeom prst="line">
            <a:avLst/>
          </a:prstGeom>
          <a:noFill/>
          <a:ln w="25400">
            <a:solidFill>
              <a:schemeClr val="tx2"/>
            </a:solidFill>
            <a:prstDash val="solid"/>
            <a:tailEnd type="triangle"/>
          </a:ln>
        </p:spPr>
      </p:sp>
      <p:sp>
        <p:nvSpPr>
          <p:cNvPr id="10" name="Lane label B. Risk scoring (batch job)"/>
          <p:cNvSpPr txBox="1"/>
          <p:nvPr/>
        </p:nvSpPr>
        <p:spPr>
          <a:xfrm>
            <a:off x="548640" y="2898648"/>
            <a:ext cx="5486400" cy="274320"/>
          </a:xfrm>
          <a:prstGeom prst="rect">
            <a:avLst/>
          </a:prstGeom>
          <a:noFill/>
          <a:ln/>
        </p:spPr>
        <p:txBody>
          <a:bodyPr wrap="square" lIns="0" tIns="0" rIns="0" bIns="0" rtlCol="0" anchor="t"/>
          <a:lstStyle/>
          <a:p>
            <a:pPr marL="0" indent="0">
              <a:buNone/>
            </a:pPr>
            <a:r>
              <a:rPr lang="en-US" sz="1400" b="1" dirty="0">
                <a:solidFill>
                  <a:schemeClr val="tx2"/>
                </a:solidFill>
              </a:rPr>
              <a:t>B. Risk scoring (batch job)</a:t>
            </a:r>
            <a:endParaRPr lang="en-US" sz="1400" dirty="0"/>
          </a:p>
        </p:txBody>
      </p:sp>
      <p:sp>
        <p:nvSpPr>
          <p:cNvPr id="11" name="Node Batch job"/>
          <p:cNvSpPr txBox="1"/>
          <p:nvPr/>
        </p:nvSpPr>
        <p:spPr>
          <a:xfrm>
            <a:off x="548640" y="3246120"/>
            <a:ext cx="2468880" cy="914400"/>
          </a:xfrm>
          <a:prstGeom prst="roundRect">
            <a:avLst>
              <a:gd name="adj" fmla="val 12000"/>
            </a:avLst>
          </a:prstGeom>
          <a:solidFill>
            <a:schemeClr val="accent6"/>
          </a:solidFill>
          <a:ln/>
        </p:spPr>
        <p:txBody>
          <a:bodyPr wrap="square" lIns="635" tIns="635" rIns="635" bIns="635" rtlCol="0" anchor="ctr"/>
          <a:lstStyle/>
          <a:p>
            <a:pPr marL="0" indent="0" algn="ctr">
              <a:buNone/>
            </a:pPr>
            <a:r>
              <a:rPr lang="en-US" sz="1600" b="1" dirty="0">
                <a:solidFill>
                  <a:schemeClr val="bg1"/>
                </a:solidFill>
              </a:rPr>
              <a:t>Batch job</a:t>
            </a:r>
            <a:endParaRPr lang="en-US" sz="1600" dirty="0"/>
          </a:p>
          <a:p>
            <a:pPr marL="0" indent="0" algn="ctr">
              <a:buNone/>
            </a:pPr>
            <a:r>
              <a:rPr lang="en-US" sz="1300" dirty="0">
                <a:solidFill>
                  <a:schemeClr val="bg1"/>
                </a:solidFill>
              </a:rPr>
              <a:t>load_risk.py</a:t>
            </a:r>
            <a:endParaRPr lang="en-US" sz="1600" dirty="0"/>
          </a:p>
        </p:txBody>
      </p:sp>
      <p:sp>
        <p:nvSpPr>
          <p:cNvPr id="12" name="Node Features"/>
          <p:cNvSpPr txBox="1"/>
          <p:nvPr/>
        </p:nvSpPr>
        <p:spPr>
          <a:xfrm>
            <a:off x="3383280" y="3246120"/>
            <a:ext cx="2468880" cy="914400"/>
          </a:xfrm>
          <a:prstGeom prst="roundRect">
            <a:avLst>
              <a:gd name="adj" fmla="val 12000"/>
            </a:avLst>
          </a:prstGeom>
          <a:solidFill>
            <a:schemeClr val="accent6"/>
          </a:solidFill>
          <a:ln/>
        </p:spPr>
        <p:txBody>
          <a:bodyPr wrap="square" lIns="635" tIns="635" rIns="635" bIns="635" rtlCol="0" anchor="ctr"/>
          <a:lstStyle/>
          <a:p>
            <a:pPr marL="0" indent="0" algn="ctr">
              <a:buNone/>
            </a:pPr>
            <a:r>
              <a:rPr lang="en-US" sz="1600" b="1" dirty="0">
                <a:solidFill>
                  <a:schemeClr val="bg1"/>
                </a:solidFill>
              </a:rPr>
              <a:t>Features</a:t>
            </a:r>
            <a:endParaRPr lang="en-US" sz="1600" dirty="0"/>
          </a:p>
          <a:p>
            <a:pPr marL="0" indent="0" algn="ctr">
              <a:buNone/>
            </a:pPr>
            <a:r>
              <a:rPr lang="en-US" sz="1300" dirty="0">
                <a:solidFill>
                  <a:schemeClr val="bg1"/>
                </a:solidFill>
              </a:rPr>
              <a:t>extract, transform</a:t>
            </a:r>
            <a:endParaRPr lang="en-US" sz="1600" dirty="0"/>
          </a:p>
        </p:txBody>
      </p:sp>
      <p:sp>
        <p:nvSpPr>
          <p:cNvPr id="13" name="Node Risk rules"/>
          <p:cNvSpPr txBox="1"/>
          <p:nvPr/>
        </p:nvSpPr>
        <p:spPr>
          <a:xfrm>
            <a:off x="6217920" y="3246120"/>
            <a:ext cx="2468880" cy="914400"/>
          </a:xfrm>
          <a:prstGeom prst="roundRect">
            <a:avLst>
              <a:gd name="adj" fmla="val 12000"/>
            </a:avLst>
          </a:prstGeom>
          <a:solidFill>
            <a:schemeClr val="accent6"/>
          </a:solidFill>
          <a:ln/>
        </p:spPr>
        <p:txBody>
          <a:bodyPr wrap="square" lIns="635" tIns="635" rIns="635" bIns="635" rtlCol="0" anchor="ctr"/>
          <a:lstStyle/>
          <a:p>
            <a:pPr marL="0" indent="0" algn="ctr">
              <a:buNone/>
            </a:pPr>
            <a:r>
              <a:rPr lang="en-US" sz="1600" b="1" dirty="0">
                <a:solidFill>
                  <a:schemeClr val="bg1"/>
                </a:solidFill>
              </a:rPr>
              <a:t>Risk rules</a:t>
            </a:r>
            <a:endParaRPr lang="en-US" sz="1600" dirty="0"/>
          </a:p>
          <a:p>
            <a:pPr marL="0" indent="0" algn="ctr">
              <a:buNone/>
            </a:pPr>
            <a:r>
              <a:rPr lang="en-US" sz="1300" dirty="0">
                <a:solidFill>
                  <a:schemeClr val="bg1"/>
                </a:solidFill>
              </a:rPr>
              <a:t>score 0-11, band</a:t>
            </a:r>
            <a:endParaRPr lang="en-US" sz="1600" dirty="0"/>
          </a:p>
        </p:txBody>
      </p:sp>
      <p:sp>
        <p:nvSpPr>
          <p:cNvPr id="14" name="Arrow B. Risk scoring (batch job) 0"/>
          <p:cNvSpPr/>
          <p:nvPr/>
        </p:nvSpPr>
        <p:spPr>
          <a:xfrm>
            <a:off x="3017520" y="3703320"/>
            <a:ext cx="365760" cy="0"/>
          </a:xfrm>
          <a:prstGeom prst="line">
            <a:avLst/>
          </a:prstGeom>
          <a:noFill/>
          <a:ln w="25400">
            <a:solidFill>
              <a:schemeClr val="tx2"/>
            </a:solidFill>
            <a:prstDash val="solid"/>
            <a:tailEnd type="triangle"/>
          </a:ln>
        </p:spPr>
      </p:sp>
      <p:sp>
        <p:nvSpPr>
          <p:cNvPr id="15" name="Arrow B. Risk scoring (batch job) 1"/>
          <p:cNvSpPr/>
          <p:nvPr/>
        </p:nvSpPr>
        <p:spPr>
          <a:xfrm>
            <a:off x="5852160" y="3703320"/>
            <a:ext cx="365760" cy="0"/>
          </a:xfrm>
          <a:prstGeom prst="line">
            <a:avLst/>
          </a:prstGeom>
          <a:noFill/>
          <a:ln w="25400">
            <a:solidFill>
              <a:schemeClr val="tx2"/>
            </a:solidFill>
            <a:prstDash val="solid"/>
            <a:tailEnd type="triangle"/>
          </a:ln>
        </p:spPr>
      </p:sp>
      <p:sp>
        <p:nvSpPr>
          <p:cNvPr id="16" name="Arrow B. Risk scoring (batch job) 2"/>
          <p:cNvSpPr/>
          <p:nvPr/>
        </p:nvSpPr>
        <p:spPr>
          <a:xfrm>
            <a:off x="8686800" y="3703320"/>
            <a:ext cx="457200" cy="0"/>
          </a:xfrm>
          <a:prstGeom prst="line">
            <a:avLst/>
          </a:prstGeom>
          <a:noFill/>
          <a:ln w="25400">
            <a:solidFill>
              <a:schemeClr val="tx2"/>
            </a:solidFill>
            <a:prstDash val="solid"/>
            <a:tailEnd type="triangle"/>
          </a:ln>
        </p:spPr>
      </p:sp>
      <p:sp>
        <p:nvSpPr>
          <p:cNvPr id="17" name="Lane label C. Runtime (user requests)"/>
          <p:cNvSpPr txBox="1"/>
          <p:nvPr/>
        </p:nvSpPr>
        <p:spPr>
          <a:xfrm>
            <a:off x="548640" y="4361688"/>
            <a:ext cx="5486400" cy="274320"/>
          </a:xfrm>
          <a:prstGeom prst="rect">
            <a:avLst/>
          </a:prstGeom>
          <a:noFill/>
          <a:ln/>
        </p:spPr>
        <p:txBody>
          <a:bodyPr wrap="square" lIns="0" tIns="0" rIns="0" bIns="0" rtlCol="0" anchor="t"/>
          <a:lstStyle/>
          <a:p>
            <a:pPr marL="0" indent="0">
              <a:buNone/>
            </a:pPr>
            <a:r>
              <a:rPr lang="en-US" sz="1400" b="1" dirty="0">
                <a:solidFill>
                  <a:schemeClr val="tx2"/>
                </a:solidFill>
              </a:rPr>
              <a:t>C. Runtime (user requests)</a:t>
            </a:r>
            <a:endParaRPr lang="en-US" sz="1400" dirty="0"/>
          </a:p>
        </p:txBody>
      </p:sp>
      <p:sp>
        <p:nvSpPr>
          <p:cNvPr id="18" name="Node User"/>
          <p:cNvSpPr txBox="1"/>
          <p:nvPr/>
        </p:nvSpPr>
        <p:spPr>
          <a:xfrm>
            <a:off x="548640" y="4709160"/>
            <a:ext cx="2468880" cy="914400"/>
          </a:xfrm>
          <a:prstGeom prst="roundRect">
            <a:avLst>
              <a:gd name="adj" fmla="val 12000"/>
            </a:avLst>
          </a:prstGeom>
          <a:solidFill>
            <a:schemeClr val="accent2"/>
          </a:solidFill>
          <a:ln/>
        </p:spPr>
        <p:txBody>
          <a:bodyPr wrap="square" lIns="635" tIns="635" rIns="635" bIns="635" rtlCol="0" anchor="ctr"/>
          <a:lstStyle/>
          <a:p>
            <a:pPr marL="0" indent="0" algn="ctr">
              <a:buNone/>
            </a:pPr>
            <a:r>
              <a:rPr lang="en-US" sz="1600" b="1" dirty="0">
                <a:solidFill>
                  <a:schemeClr val="bg1"/>
                </a:solidFill>
              </a:rPr>
              <a:t>User</a:t>
            </a:r>
            <a:endParaRPr lang="en-US" sz="1600" dirty="0"/>
          </a:p>
          <a:p>
            <a:pPr marL="0" indent="0" algn="ctr">
              <a:buNone/>
            </a:pPr>
            <a:r>
              <a:rPr lang="en-US" sz="1300" dirty="0">
                <a:solidFill>
                  <a:schemeClr val="bg1"/>
                </a:solidFill>
              </a:rPr>
              <a:t>Admin, Analyst, Viewer</a:t>
            </a:r>
            <a:endParaRPr lang="en-US" sz="1600" dirty="0"/>
          </a:p>
        </p:txBody>
      </p:sp>
      <p:sp>
        <p:nvSpPr>
          <p:cNvPr id="19" name="Node Streamlit"/>
          <p:cNvSpPr txBox="1"/>
          <p:nvPr/>
        </p:nvSpPr>
        <p:spPr>
          <a:xfrm>
            <a:off x="3383280" y="4709160"/>
            <a:ext cx="2468880" cy="914400"/>
          </a:xfrm>
          <a:prstGeom prst="roundRect">
            <a:avLst>
              <a:gd name="adj" fmla="val 12000"/>
            </a:avLst>
          </a:prstGeom>
          <a:solidFill>
            <a:schemeClr val="accent2"/>
          </a:solidFill>
          <a:ln/>
        </p:spPr>
        <p:txBody>
          <a:bodyPr wrap="square" lIns="635" tIns="635" rIns="635" bIns="635" rtlCol="0" anchor="ctr"/>
          <a:lstStyle/>
          <a:p>
            <a:pPr marL="0" indent="0" algn="ctr">
              <a:buNone/>
            </a:pPr>
            <a:r>
              <a:rPr lang="en-US" sz="1600" b="1" dirty="0">
                <a:solidFill>
                  <a:schemeClr val="bg1"/>
                </a:solidFill>
              </a:rPr>
              <a:t>Streamlit</a:t>
            </a:r>
            <a:endParaRPr lang="en-US" sz="1600" dirty="0"/>
          </a:p>
          <a:p>
            <a:pPr marL="0" indent="0" algn="ctr">
              <a:buNone/>
            </a:pPr>
            <a:r>
              <a:rPr lang="en-US" sz="1300" dirty="0">
                <a:solidFill>
                  <a:schemeClr val="bg1"/>
                </a:solidFill>
              </a:rPr>
              <a:t>login, dashboards</a:t>
            </a:r>
            <a:endParaRPr lang="en-US" sz="1600" dirty="0"/>
          </a:p>
        </p:txBody>
      </p:sp>
      <p:sp>
        <p:nvSpPr>
          <p:cNvPr id="20" name="Node FastAPI"/>
          <p:cNvSpPr txBox="1"/>
          <p:nvPr/>
        </p:nvSpPr>
        <p:spPr>
          <a:xfrm>
            <a:off x="6217920" y="4709160"/>
            <a:ext cx="2468880" cy="914400"/>
          </a:xfrm>
          <a:prstGeom prst="roundRect">
            <a:avLst>
              <a:gd name="adj" fmla="val 12000"/>
            </a:avLst>
          </a:prstGeom>
          <a:solidFill>
            <a:schemeClr val="accent2"/>
          </a:solidFill>
          <a:ln/>
        </p:spPr>
        <p:txBody>
          <a:bodyPr wrap="square" lIns="635" tIns="635" rIns="635" bIns="635" rtlCol="0" anchor="ctr"/>
          <a:lstStyle/>
          <a:p>
            <a:pPr marL="0" indent="0" algn="ctr">
              <a:buNone/>
            </a:pPr>
            <a:r>
              <a:rPr lang="en-US" sz="1600" b="1" dirty="0">
                <a:solidFill>
                  <a:schemeClr val="bg1"/>
                </a:solidFill>
              </a:rPr>
              <a:t>FastAPI</a:t>
            </a:r>
            <a:endParaRPr lang="en-US" sz="1600" dirty="0"/>
          </a:p>
          <a:p>
            <a:pPr marL="0" indent="0" algn="ctr">
              <a:buNone/>
            </a:pPr>
            <a:r>
              <a:rPr lang="en-US" sz="1300" dirty="0">
                <a:solidFill>
                  <a:schemeClr val="bg1"/>
                </a:solidFill>
              </a:rPr>
              <a:t>JWT, roles, SQL</a:t>
            </a:r>
            <a:endParaRPr lang="en-US" sz="1600" dirty="0"/>
          </a:p>
        </p:txBody>
      </p:sp>
      <p:sp>
        <p:nvSpPr>
          <p:cNvPr id="21" name="Arrow C. Runtime (user requests) 0"/>
          <p:cNvSpPr/>
          <p:nvPr/>
        </p:nvSpPr>
        <p:spPr>
          <a:xfrm>
            <a:off x="3017520" y="5166360"/>
            <a:ext cx="365760" cy="0"/>
          </a:xfrm>
          <a:prstGeom prst="line">
            <a:avLst/>
          </a:prstGeom>
          <a:noFill/>
          <a:ln w="25400">
            <a:solidFill>
              <a:schemeClr val="tx2"/>
            </a:solidFill>
            <a:prstDash val="solid"/>
            <a:headEnd type="triangle"/>
            <a:tailEnd type="triangle"/>
          </a:ln>
        </p:spPr>
      </p:sp>
      <p:sp>
        <p:nvSpPr>
          <p:cNvPr id="22" name="Arrow C. Runtime (user requests) 1"/>
          <p:cNvSpPr/>
          <p:nvPr/>
        </p:nvSpPr>
        <p:spPr>
          <a:xfrm>
            <a:off x="5852160" y="5166360"/>
            <a:ext cx="365760" cy="0"/>
          </a:xfrm>
          <a:prstGeom prst="line">
            <a:avLst/>
          </a:prstGeom>
          <a:noFill/>
          <a:ln w="25400">
            <a:solidFill>
              <a:schemeClr val="tx2"/>
            </a:solidFill>
            <a:prstDash val="solid"/>
            <a:headEnd type="triangle"/>
            <a:tailEnd type="triangle"/>
          </a:ln>
        </p:spPr>
      </p:sp>
      <p:sp>
        <p:nvSpPr>
          <p:cNvPr id="23" name="Arrow C. Runtime (user requests) 2"/>
          <p:cNvSpPr/>
          <p:nvPr/>
        </p:nvSpPr>
        <p:spPr>
          <a:xfrm>
            <a:off x="8686800" y="5166360"/>
            <a:ext cx="457200" cy="0"/>
          </a:xfrm>
          <a:prstGeom prst="line">
            <a:avLst/>
          </a:prstGeom>
          <a:noFill/>
          <a:ln w="25400">
            <a:solidFill>
              <a:schemeClr val="tx2"/>
            </a:solidFill>
            <a:prstDash val="solid"/>
            <a:headEnd type="triangle"/>
            <a:tailEnd type="triangle"/>
          </a:ln>
        </p:spPr>
      </p:sp>
      <p:sp>
        <p:nvSpPr>
          <p:cNvPr id="24" name="Arrow FastAPI to Risk rules"/>
          <p:cNvSpPr/>
          <p:nvPr/>
        </p:nvSpPr>
        <p:spPr>
          <a:xfrm flipV="1">
            <a:off x="7452360" y="4160520"/>
            <a:ext cx="0" cy="548640"/>
          </a:xfrm>
          <a:prstGeom prst="line">
            <a:avLst/>
          </a:prstGeom>
          <a:noFill/>
          <a:ln w="25400">
            <a:solidFill>
              <a:schemeClr val="tx2"/>
            </a:solidFill>
            <a:prstDash val="dash"/>
            <a:tailEnd type="triangle"/>
          </a:ln>
        </p:spPr>
      </p:sp>
      <p:sp>
        <p:nvSpPr>
          <p:cNvPr id="25" name="Label on create or update"/>
          <p:cNvSpPr txBox="1"/>
          <p:nvPr/>
        </p:nvSpPr>
        <p:spPr>
          <a:xfrm>
            <a:off x="4572000" y="4315968"/>
            <a:ext cx="2743200" cy="274320"/>
          </a:xfrm>
          <a:prstGeom prst="rect">
            <a:avLst/>
          </a:prstGeom>
          <a:noFill/>
          <a:ln/>
        </p:spPr>
        <p:txBody>
          <a:bodyPr wrap="square" lIns="0" tIns="0" rIns="0" bIns="0" rtlCol="0" anchor="t"/>
          <a:lstStyle/>
          <a:p>
            <a:pPr marL="0" indent="0" algn="r">
              <a:buNone/>
            </a:pPr>
            <a:r>
              <a:rPr lang="en-US" sz="1200" dirty="0">
                <a:solidFill>
                  <a:schemeClr val="tx2"/>
                </a:solidFill>
              </a:rPr>
              <a:t>on create or update</a:t>
            </a:r>
            <a:endParaRPr lang="en-US" sz="1200" dirty="0"/>
          </a:p>
        </p:txBody>
      </p:sp>
      <p:sp>
        <p:nvSpPr>
          <p:cNvPr id="26" name="Node MySQL"/>
          <p:cNvSpPr txBox="1"/>
          <p:nvPr/>
        </p:nvSpPr>
        <p:spPr>
          <a:xfrm>
            <a:off x="9144000" y="1783080"/>
            <a:ext cx="2468880" cy="3840480"/>
          </a:xfrm>
          <a:prstGeom prst="roundRect">
            <a:avLst>
              <a:gd name="adj" fmla="val 4444"/>
            </a:avLst>
          </a:prstGeom>
          <a:solidFill>
            <a:schemeClr val="tx2"/>
          </a:solidFill>
          <a:ln/>
        </p:spPr>
        <p:txBody>
          <a:bodyPr wrap="square" lIns="1270" tIns="1270" rIns="1270" bIns="1270" rtlCol="0" anchor="ctr"/>
          <a:lstStyle/>
          <a:p>
            <a:pPr marL="0" indent="0" algn="ctr">
              <a:buNone/>
            </a:pPr>
            <a:r>
              <a:rPr lang="en-US" sz="2200" b="1" dirty="0">
                <a:solidFill>
                  <a:schemeClr val="bg1"/>
                </a:solidFill>
              </a:rPr>
              <a:t>MySQL</a:t>
            </a:r>
            <a:endParaRPr lang="en-US" sz="2200" dirty="0"/>
          </a:p>
          <a:p>
            <a:pPr marL="0" indent="0" algn="ctr">
              <a:buNone/>
            </a:pPr>
            <a:r>
              <a:rPr lang="en-US" sz="1000" dirty="0">
                <a:solidFill>
                  <a:schemeClr val="bg1"/>
                </a:solidFill>
              </a:rPr>
              <a:t> </a:t>
            </a:r>
            <a:endParaRPr lang="en-US" sz="2200" dirty="0"/>
          </a:p>
          <a:p>
            <a:pPr marL="0" indent="0" algn="ctr">
              <a:buNone/>
            </a:pPr>
            <a:r>
              <a:rPr lang="en-US" sz="1500" dirty="0">
                <a:solidFill>
                  <a:schemeClr val="bg1"/>
                </a:solidFill>
              </a:rPr>
              <a:t>customers</a:t>
            </a:r>
            <a:endParaRPr lang="en-US" sz="2200" dirty="0"/>
          </a:p>
          <a:p>
            <a:pPr marL="0" indent="0" algn="ctr">
              <a:buNone/>
            </a:pPr>
            <a:r>
              <a:rPr lang="en-US" sz="1500" dirty="0">
                <a:solidFill>
                  <a:schemeClr val="bg1"/>
                </a:solidFill>
              </a:rPr>
              <a:t>credit data</a:t>
            </a:r>
            <a:endParaRPr lang="en-US" sz="2200" dirty="0"/>
          </a:p>
          <a:p>
            <a:pPr marL="0" indent="0" algn="ctr">
              <a:buNone/>
            </a:pPr>
            <a:r>
              <a:rPr lang="en-US" sz="1500" dirty="0">
                <a:solidFill>
                  <a:schemeClr val="bg1"/>
                </a:solidFill>
              </a:rPr>
              <a:t>risk results</a:t>
            </a:r>
            <a:endParaRPr lang="en-US" sz="2200" dirty="0"/>
          </a:p>
          <a:p>
            <a:pPr marL="0" indent="0" algn="ctr">
              <a:buNone/>
            </a:pPr>
            <a:r>
              <a:rPr lang="en-US" sz="1500" dirty="0">
                <a:solidFill>
                  <a:schemeClr val="bg1"/>
                </a:solidFill>
              </a:rPr>
              <a:t>users and audit</a:t>
            </a:r>
            <a:endParaRPr lang="en-US" sz="2200" dirty="0"/>
          </a:p>
        </p:txBody>
      </p:sp>
      <p:sp>
        <p:nvSpPr>
          <p:cNvPr id="27" name="Legend swatch Batch"/>
          <p:cNvSpPr/>
          <p:nvPr/>
        </p:nvSpPr>
        <p:spPr>
          <a:xfrm>
            <a:off x="548640" y="5943600"/>
            <a:ext cx="201168" cy="201168"/>
          </a:xfrm>
          <a:prstGeom prst="roundRect">
            <a:avLst>
              <a:gd name="adj" fmla="val 18182"/>
            </a:avLst>
          </a:prstGeom>
          <a:solidFill>
            <a:schemeClr val="accent6"/>
          </a:solidFill>
          <a:ln/>
        </p:spPr>
      </p:sp>
      <p:sp>
        <p:nvSpPr>
          <p:cNvPr id="28" name="Legend Batch"/>
          <p:cNvSpPr txBox="1"/>
          <p:nvPr/>
        </p:nvSpPr>
        <p:spPr>
          <a:xfrm>
            <a:off x="841248" y="5907024"/>
            <a:ext cx="2194560" cy="274320"/>
          </a:xfrm>
          <a:prstGeom prst="rect">
            <a:avLst/>
          </a:prstGeom>
          <a:noFill/>
          <a:ln/>
        </p:spPr>
        <p:txBody>
          <a:bodyPr wrap="square" lIns="0" tIns="0" rIns="0" bIns="0" rtlCol="0" anchor="ctr"/>
          <a:lstStyle/>
          <a:p>
            <a:pPr marL="0" indent="0">
              <a:buNone/>
            </a:pPr>
            <a:r>
              <a:rPr lang="en-US" sz="1200" dirty="0">
                <a:solidFill>
                  <a:schemeClr val="tx1"/>
                </a:solidFill>
              </a:rPr>
              <a:t>Batch</a:t>
            </a:r>
            <a:endParaRPr lang="en-US" sz="1200" dirty="0"/>
          </a:p>
        </p:txBody>
      </p:sp>
      <p:sp>
        <p:nvSpPr>
          <p:cNvPr id="29" name="Legend swatch Runtime"/>
          <p:cNvSpPr/>
          <p:nvPr/>
        </p:nvSpPr>
        <p:spPr>
          <a:xfrm>
            <a:off x="1828800" y="5943600"/>
            <a:ext cx="201168" cy="201168"/>
          </a:xfrm>
          <a:prstGeom prst="roundRect">
            <a:avLst>
              <a:gd name="adj" fmla="val 18182"/>
            </a:avLst>
          </a:prstGeom>
          <a:solidFill>
            <a:schemeClr val="accent2"/>
          </a:solidFill>
          <a:ln/>
        </p:spPr>
      </p:sp>
      <p:sp>
        <p:nvSpPr>
          <p:cNvPr id="30" name="Legend Runtime"/>
          <p:cNvSpPr txBox="1"/>
          <p:nvPr/>
        </p:nvSpPr>
        <p:spPr>
          <a:xfrm>
            <a:off x="2121408" y="5907024"/>
            <a:ext cx="2194560" cy="274320"/>
          </a:xfrm>
          <a:prstGeom prst="rect">
            <a:avLst/>
          </a:prstGeom>
          <a:noFill/>
          <a:ln/>
        </p:spPr>
        <p:txBody>
          <a:bodyPr wrap="square" lIns="0" tIns="0" rIns="0" bIns="0" rtlCol="0" anchor="ctr"/>
          <a:lstStyle/>
          <a:p>
            <a:pPr marL="0" indent="0">
              <a:buNone/>
            </a:pPr>
            <a:r>
              <a:rPr lang="en-US" sz="1200" dirty="0">
                <a:solidFill>
                  <a:schemeClr val="tx1"/>
                </a:solidFill>
              </a:rPr>
              <a:t>Runtime</a:t>
            </a:r>
            <a:endParaRPr lang="en-US" sz="1200" dirty="0"/>
          </a:p>
        </p:txBody>
      </p:sp>
      <p:sp>
        <p:nvSpPr>
          <p:cNvPr id="31" name="Legend swatch Data store or source"/>
          <p:cNvSpPr/>
          <p:nvPr/>
        </p:nvSpPr>
        <p:spPr>
          <a:xfrm>
            <a:off x="3291840" y="5943600"/>
            <a:ext cx="201168" cy="201168"/>
          </a:xfrm>
          <a:prstGeom prst="roundRect">
            <a:avLst>
              <a:gd name="adj" fmla="val 18182"/>
            </a:avLst>
          </a:prstGeom>
          <a:solidFill>
            <a:schemeClr val="tx2"/>
          </a:solidFill>
          <a:ln/>
        </p:spPr>
      </p:sp>
      <p:sp>
        <p:nvSpPr>
          <p:cNvPr id="32" name="Legend Data store or source"/>
          <p:cNvSpPr txBox="1"/>
          <p:nvPr/>
        </p:nvSpPr>
        <p:spPr>
          <a:xfrm>
            <a:off x="3584448" y="5907024"/>
            <a:ext cx="2194560" cy="274320"/>
          </a:xfrm>
          <a:prstGeom prst="rect">
            <a:avLst/>
          </a:prstGeom>
          <a:noFill/>
          <a:ln/>
        </p:spPr>
        <p:txBody>
          <a:bodyPr wrap="square" lIns="0" tIns="0" rIns="0" bIns="0" rtlCol="0" anchor="ctr"/>
          <a:lstStyle/>
          <a:p>
            <a:pPr marL="0" indent="0">
              <a:buNone/>
            </a:pPr>
            <a:r>
              <a:rPr lang="en-US" sz="1200" dirty="0">
                <a:solidFill>
                  <a:schemeClr val="tx1"/>
                </a:solidFill>
              </a:rPr>
              <a:t>Data store or source</a:t>
            </a:r>
            <a:endParaRPr lang="en-US" sz="1200" dirty="0"/>
          </a:p>
        </p:txBody>
      </p:sp>
      <p:sp>
        <p:nvSpPr>
          <p:cNvPr id="33"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3A6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Data flow: ETL pipeline</a:t>
            </a:r>
            <a:endParaRPr lang="en-US" sz="3400" dirty="0"/>
          </a:p>
        </p:txBody>
      </p:sp>
      <p:sp>
        <p:nvSpPr>
          <p:cNvPr id="3" name="ETL subtitle"/>
          <p:cNvSpPr txBox="1"/>
          <p:nvPr/>
        </p:nvSpPr>
        <p:spPr>
          <a:xfrm>
            <a:off x="548640" y="1097280"/>
            <a:ext cx="11064240" cy="320040"/>
          </a:xfrm>
          <a:prstGeom prst="rect">
            <a:avLst/>
          </a:prstGeom>
          <a:noFill/>
          <a:ln/>
        </p:spPr>
        <p:txBody>
          <a:bodyPr wrap="square" lIns="0" tIns="0" rIns="0" bIns="0" rtlCol="0" anchor="t"/>
          <a:lstStyle/>
          <a:p>
            <a:pPr marL="0" indent="0">
              <a:buNone/>
            </a:pPr>
            <a:r>
              <a:rPr lang="en-US" sz="1400" dirty="0">
                <a:solidFill>
                  <a:schemeClr val="accent1"/>
                </a:solidFill>
              </a:rPr>
              <a:t>UCI .xls dataset, six stages, then MySQL tables plus an audit log</a:t>
            </a:r>
            <a:endParaRPr lang="en-US" sz="1400" dirty="0"/>
          </a:p>
        </p:txBody>
      </p:sp>
      <p:sp>
        <p:nvSpPr>
          <p:cNvPr id="4" name="Stage card Extract"/>
          <p:cNvSpPr/>
          <p:nvPr/>
        </p:nvSpPr>
        <p:spPr>
          <a:xfrm>
            <a:off x="548640" y="1600200"/>
            <a:ext cx="3383280" cy="1828800"/>
          </a:xfrm>
          <a:prstGeom prst="roundRect">
            <a:avLst>
              <a:gd name="adj" fmla="val 6000"/>
            </a:avLst>
          </a:prstGeom>
          <a:solidFill>
            <a:schemeClr val="bg2"/>
          </a:solidFill>
          <a:ln/>
        </p:spPr>
      </p:sp>
      <p:sp>
        <p:nvSpPr>
          <p:cNvPr id="5" name="Stage number 1"/>
          <p:cNvSpPr txBox="1"/>
          <p:nvPr/>
        </p:nvSpPr>
        <p:spPr>
          <a:xfrm>
            <a:off x="731520" y="1764792"/>
            <a:ext cx="457200" cy="45720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Stage title Extract"/>
          <p:cNvSpPr txBox="1"/>
          <p:nvPr/>
        </p:nvSpPr>
        <p:spPr>
          <a:xfrm>
            <a:off x="1325880" y="1764792"/>
            <a:ext cx="2468880" cy="457200"/>
          </a:xfrm>
          <a:prstGeom prst="rect">
            <a:avLst/>
          </a:prstGeom>
          <a:noFill/>
          <a:ln/>
        </p:spPr>
        <p:txBody>
          <a:bodyPr wrap="square" lIns="0" tIns="0" rIns="0" bIns="0" rtlCol="0" anchor="ctr"/>
          <a:lstStyle/>
          <a:p>
            <a:pPr marL="0" indent="0">
              <a:buNone/>
            </a:pPr>
            <a:r>
              <a:rPr lang="en-US" sz="1800" b="1" dirty="0">
                <a:solidFill>
                  <a:schemeClr val="tx2"/>
                </a:solidFill>
              </a:rPr>
              <a:t>Extract</a:t>
            </a:r>
            <a:endParaRPr lang="en-US" sz="1800" dirty="0"/>
          </a:p>
        </p:txBody>
      </p:sp>
      <p:sp>
        <p:nvSpPr>
          <p:cNvPr id="7" name="Stage file Extract"/>
          <p:cNvSpPr txBox="1"/>
          <p:nvPr/>
        </p:nvSpPr>
        <p:spPr>
          <a:xfrm>
            <a:off x="731520" y="2313432"/>
            <a:ext cx="3017520" cy="274320"/>
          </a:xfrm>
          <a:prstGeom prst="rect">
            <a:avLst/>
          </a:prstGeom>
          <a:noFill/>
          <a:ln/>
        </p:spPr>
        <p:txBody>
          <a:bodyPr wrap="square" lIns="0" tIns="0" rIns="0" bIns="0" rtlCol="0" anchor="t"/>
          <a:lstStyle/>
          <a:p>
            <a:pPr marL="0" indent="0">
              <a:buNone/>
            </a:pPr>
            <a:r>
              <a:rPr lang="en-US" sz="1200" i="1" dirty="0">
                <a:solidFill>
                  <a:schemeClr val="accent1"/>
                </a:solidFill>
              </a:rPr>
              <a:t>extract.py</a:t>
            </a:r>
            <a:endParaRPr lang="en-US" sz="1200" dirty="0"/>
          </a:p>
        </p:txBody>
      </p:sp>
      <p:sp>
        <p:nvSpPr>
          <p:cNvPr id="8" name="Stage detail Extract"/>
          <p:cNvSpPr txBox="1"/>
          <p:nvPr/>
        </p:nvSpPr>
        <p:spPr>
          <a:xfrm>
            <a:off x="731520" y="2651760"/>
            <a:ext cx="3017520" cy="685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Reads the Excel dataset</a:t>
            </a:r>
            <a:endParaRPr lang="en-US" sz="1400" dirty="0"/>
          </a:p>
          <a:p>
            <a:pPr marL="342900" indent="-342900">
              <a:spcAft>
                <a:spcPts val="400"/>
              </a:spcAft>
              <a:buSzPct val="100000"/>
              <a:buChar char="•"/>
            </a:pPr>
            <a:r>
              <a:rPr lang="en-US" sz="1400" dirty="0">
                <a:solidFill>
                  <a:schemeClr val="tx1"/>
                </a:solidFill>
              </a:rPr>
              <a:t>Checks required columns</a:t>
            </a:r>
            <a:endParaRPr lang="en-US" sz="1400" dirty="0"/>
          </a:p>
        </p:txBody>
      </p:sp>
      <p:sp>
        <p:nvSpPr>
          <p:cNvPr id="9" name="Stage card Validate"/>
          <p:cNvSpPr/>
          <p:nvPr/>
        </p:nvSpPr>
        <p:spPr>
          <a:xfrm>
            <a:off x="4389120" y="1600200"/>
            <a:ext cx="3383280" cy="1828800"/>
          </a:xfrm>
          <a:prstGeom prst="roundRect">
            <a:avLst>
              <a:gd name="adj" fmla="val 6000"/>
            </a:avLst>
          </a:prstGeom>
          <a:solidFill>
            <a:schemeClr val="bg2"/>
          </a:solidFill>
          <a:ln/>
        </p:spPr>
      </p:sp>
      <p:sp>
        <p:nvSpPr>
          <p:cNvPr id="10" name="Stage number 2"/>
          <p:cNvSpPr txBox="1"/>
          <p:nvPr/>
        </p:nvSpPr>
        <p:spPr>
          <a:xfrm>
            <a:off x="4572000" y="1764792"/>
            <a:ext cx="457200" cy="45720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Stage title Validate"/>
          <p:cNvSpPr txBox="1"/>
          <p:nvPr/>
        </p:nvSpPr>
        <p:spPr>
          <a:xfrm>
            <a:off x="5166360" y="1764792"/>
            <a:ext cx="2468880" cy="457200"/>
          </a:xfrm>
          <a:prstGeom prst="rect">
            <a:avLst/>
          </a:prstGeom>
          <a:noFill/>
          <a:ln/>
        </p:spPr>
        <p:txBody>
          <a:bodyPr wrap="square" lIns="0" tIns="0" rIns="0" bIns="0" rtlCol="0" anchor="ctr"/>
          <a:lstStyle/>
          <a:p>
            <a:pPr marL="0" indent="0">
              <a:buNone/>
            </a:pPr>
            <a:r>
              <a:rPr lang="en-US" sz="1800" b="1" dirty="0">
                <a:solidFill>
                  <a:schemeClr val="tx2"/>
                </a:solidFill>
              </a:rPr>
              <a:t>Validate</a:t>
            </a:r>
            <a:endParaRPr lang="en-US" sz="1800" dirty="0"/>
          </a:p>
        </p:txBody>
      </p:sp>
      <p:sp>
        <p:nvSpPr>
          <p:cNvPr id="12" name="Stage file Validate"/>
          <p:cNvSpPr txBox="1"/>
          <p:nvPr/>
        </p:nvSpPr>
        <p:spPr>
          <a:xfrm>
            <a:off x="4572000" y="2313432"/>
            <a:ext cx="3017520" cy="274320"/>
          </a:xfrm>
          <a:prstGeom prst="rect">
            <a:avLst/>
          </a:prstGeom>
          <a:noFill/>
          <a:ln/>
        </p:spPr>
        <p:txBody>
          <a:bodyPr wrap="square" lIns="0" tIns="0" rIns="0" bIns="0" rtlCol="0" anchor="t"/>
          <a:lstStyle/>
          <a:p>
            <a:pPr marL="0" indent="0">
              <a:buNone/>
            </a:pPr>
            <a:r>
              <a:rPr lang="en-US" sz="1200" i="1" dirty="0">
                <a:solidFill>
                  <a:schemeClr val="accent1"/>
                </a:solidFill>
              </a:rPr>
              <a:t>validate.py</a:t>
            </a:r>
            <a:endParaRPr lang="en-US" sz="1200" dirty="0"/>
          </a:p>
        </p:txBody>
      </p:sp>
      <p:sp>
        <p:nvSpPr>
          <p:cNvPr id="13" name="Stage detail Validate"/>
          <p:cNvSpPr txBox="1"/>
          <p:nvPr/>
        </p:nvSpPr>
        <p:spPr>
          <a:xfrm>
            <a:off x="4572000" y="2651760"/>
            <a:ext cx="3017520" cy="685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13 data quality checks</a:t>
            </a:r>
            <a:endParaRPr lang="en-US" sz="1400" dirty="0"/>
          </a:p>
          <a:p>
            <a:pPr marL="342900" indent="-342900">
              <a:spcAft>
                <a:spcPts val="400"/>
              </a:spcAft>
              <a:buSzPct val="100000"/>
              <a:buChar char="•"/>
            </a:pPr>
            <a:r>
              <a:rPr lang="en-US" sz="1400" dirty="0">
                <a:solidFill>
                  <a:schemeClr val="tx1"/>
                </a:solidFill>
              </a:rPr>
              <a:t>FAIL stops; WARNING passes</a:t>
            </a:r>
            <a:endParaRPr lang="en-US" sz="1400" dirty="0"/>
          </a:p>
        </p:txBody>
      </p:sp>
      <p:sp>
        <p:nvSpPr>
          <p:cNvPr id="14" name="Stage card Transform"/>
          <p:cNvSpPr/>
          <p:nvPr/>
        </p:nvSpPr>
        <p:spPr>
          <a:xfrm>
            <a:off x="8229600" y="1600200"/>
            <a:ext cx="3383280" cy="1828800"/>
          </a:xfrm>
          <a:prstGeom prst="roundRect">
            <a:avLst>
              <a:gd name="adj" fmla="val 6000"/>
            </a:avLst>
          </a:prstGeom>
          <a:solidFill>
            <a:schemeClr val="bg2"/>
          </a:solidFill>
          <a:ln/>
        </p:spPr>
      </p:sp>
      <p:sp>
        <p:nvSpPr>
          <p:cNvPr id="15" name="Stage number 3"/>
          <p:cNvSpPr txBox="1"/>
          <p:nvPr/>
        </p:nvSpPr>
        <p:spPr>
          <a:xfrm>
            <a:off x="8412480" y="1764792"/>
            <a:ext cx="457200" cy="45720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Stage title Transform"/>
          <p:cNvSpPr txBox="1"/>
          <p:nvPr/>
        </p:nvSpPr>
        <p:spPr>
          <a:xfrm>
            <a:off x="9006840" y="1764792"/>
            <a:ext cx="2468880" cy="457200"/>
          </a:xfrm>
          <a:prstGeom prst="rect">
            <a:avLst/>
          </a:prstGeom>
          <a:noFill/>
          <a:ln/>
        </p:spPr>
        <p:txBody>
          <a:bodyPr wrap="square" lIns="0" tIns="0" rIns="0" bIns="0" rtlCol="0" anchor="ctr"/>
          <a:lstStyle/>
          <a:p>
            <a:pPr marL="0" indent="0">
              <a:buNone/>
            </a:pPr>
            <a:r>
              <a:rPr lang="en-US" sz="1800" b="1" dirty="0">
                <a:solidFill>
                  <a:schemeClr val="tx2"/>
                </a:solidFill>
              </a:rPr>
              <a:t>Transform</a:t>
            </a:r>
            <a:endParaRPr lang="en-US" sz="1800" dirty="0"/>
          </a:p>
        </p:txBody>
      </p:sp>
      <p:sp>
        <p:nvSpPr>
          <p:cNvPr id="17" name="Stage file Transform"/>
          <p:cNvSpPr txBox="1"/>
          <p:nvPr/>
        </p:nvSpPr>
        <p:spPr>
          <a:xfrm>
            <a:off x="8412480" y="2313432"/>
            <a:ext cx="3017520" cy="274320"/>
          </a:xfrm>
          <a:prstGeom prst="rect">
            <a:avLst/>
          </a:prstGeom>
          <a:noFill/>
          <a:ln/>
        </p:spPr>
        <p:txBody>
          <a:bodyPr wrap="square" lIns="0" tIns="0" rIns="0" bIns="0" rtlCol="0" anchor="t"/>
          <a:lstStyle/>
          <a:p>
            <a:pPr marL="0" indent="0">
              <a:buNone/>
            </a:pPr>
            <a:r>
              <a:rPr lang="en-US" sz="1200" i="1" dirty="0">
                <a:solidFill>
                  <a:schemeClr val="accent1"/>
                </a:solidFill>
              </a:rPr>
              <a:t>transform.py</a:t>
            </a:r>
            <a:endParaRPr lang="en-US" sz="1200" dirty="0"/>
          </a:p>
        </p:txBody>
      </p:sp>
      <p:sp>
        <p:nvSpPr>
          <p:cNvPr id="18" name="Stage detail Transform"/>
          <p:cNvSpPr txBox="1"/>
          <p:nvPr/>
        </p:nvSpPr>
        <p:spPr>
          <a:xfrm>
            <a:off x="8412480" y="2651760"/>
            <a:ext cx="3017520" cy="685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Renames and maps codes</a:t>
            </a:r>
            <a:endParaRPr lang="en-US" sz="1400" dirty="0"/>
          </a:p>
          <a:p>
            <a:pPr marL="342900" indent="-342900">
              <a:spcAft>
                <a:spcPts val="400"/>
              </a:spcAft>
              <a:buSzPct val="100000"/>
              <a:buChar char="•"/>
            </a:pPr>
            <a:r>
              <a:rPr lang="en-US" sz="1400" dirty="0">
                <a:solidFill>
                  <a:schemeClr val="tx1"/>
                </a:solidFill>
              </a:rPr>
              <a:t>Derives credit features</a:t>
            </a:r>
            <a:endParaRPr lang="en-US" sz="1400" dirty="0"/>
          </a:p>
        </p:txBody>
      </p:sp>
      <p:sp>
        <p:nvSpPr>
          <p:cNvPr id="19" name="Stage card Detect changes"/>
          <p:cNvSpPr/>
          <p:nvPr/>
        </p:nvSpPr>
        <p:spPr>
          <a:xfrm>
            <a:off x="548640" y="3749040"/>
            <a:ext cx="3383280" cy="1828800"/>
          </a:xfrm>
          <a:prstGeom prst="roundRect">
            <a:avLst>
              <a:gd name="adj" fmla="val 6000"/>
            </a:avLst>
          </a:prstGeom>
          <a:solidFill>
            <a:schemeClr val="bg2"/>
          </a:solidFill>
          <a:ln/>
        </p:spPr>
      </p:sp>
      <p:sp>
        <p:nvSpPr>
          <p:cNvPr id="20" name="Stage number 4"/>
          <p:cNvSpPr txBox="1"/>
          <p:nvPr/>
        </p:nvSpPr>
        <p:spPr>
          <a:xfrm>
            <a:off x="731520" y="3913632"/>
            <a:ext cx="457200" cy="45720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1" name="Stage title Detect changes"/>
          <p:cNvSpPr txBox="1"/>
          <p:nvPr/>
        </p:nvSpPr>
        <p:spPr>
          <a:xfrm>
            <a:off x="1325880" y="3913632"/>
            <a:ext cx="2468880" cy="457200"/>
          </a:xfrm>
          <a:prstGeom prst="rect">
            <a:avLst/>
          </a:prstGeom>
          <a:noFill/>
          <a:ln/>
        </p:spPr>
        <p:txBody>
          <a:bodyPr wrap="square" lIns="0" tIns="0" rIns="0" bIns="0" rtlCol="0" anchor="ctr"/>
          <a:lstStyle/>
          <a:p>
            <a:pPr marL="0" indent="0">
              <a:buNone/>
            </a:pPr>
            <a:r>
              <a:rPr lang="en-US" sz="1800" b="1" dirty="0">
                <a:solidFill>
                  <a:schemeClr val="tx2"/>
                </a:solidFill>
              </a:rPr>
              <a:t>Detect changes</a:t>
            </a:r>
            <a:endParaRPr lang="en-US" sz="1800" dirty="0"/>
          </a:p>
        </p:txBody>
      </p:sp>
      <p:sp>
        <p:nvSpPr>
          <p:cNvPr id="22" name="Stage file Detect changes"/>
          <p:cNvSpPr txBox="1"/>
          <p:nvPr/>
        </p:nvSpPr>
        <p:spPr>
          <a:xfrm>
            <a:off x="731520" y="4462272"/>
            <a:ext cx="3017520" cy="274320"/>
          </a:xfrm>
          <a:prstGeom prst="rect">
            <a:avLst/>
          </a:prstGeom>
          <a:noFill/>
          <a:ln/>
        </p:spPr>
        <p:txBody>
          <a:bodyPr wrap="square" lIns="0" tIns="0" rIns="0" bIns="0" rtlCol="0" anchor="t"/>
          <a:lstStyle/>
          <a:p>
            <a:pPr marL="0" indent="0">
              <a:buNone/>
            </a:pPr>
            <a:r>
              <a:rPr lang="en-US" sz="1200" i="1" dirty="0">
                <a:solidFill>
                  <a:schemeClr val="accent1"/>
                </a:solidFill>
              </a:rPr>
              <a:t>incremental.py</a:t>
            </a:r>
            <a:endParaRPr lang="en-US" sz="1200" dirty="0"/>
          </a:p>
        </p:txBody>
      </p:sp>
      <p:sp>
        <p:nvSpPr>
          <p:cNvPr id="23" name="Stage detail Detect changes"/>
          <p:cNvSpPr txBox="1"/>
          <p:nvPr/>
        </p:nvSpPr>
        <p:spPr>
          <a:xfrm>
            <a:off x="731520" y="4800600"/>
            <a:ext cx="3017520" cy="685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Compares 15 columns to MySQL</a:t>
            </a:r>
            <a:endParaRPr lang="en-US" sz="1400" dirty="0"/>
          </a:p>
          <a:p>
            <a:pPr marL="342900" indent="-342900">
              <a:spcAft>
                <a:spcPts val="400"/>
              </a:spcAft>
              <a:buSzPct val="100000"/>
              <a:buChar char="•"/>
            </a:pPr>
            <a:r>
              <a:rPr lang="en-US" sz="1400" dirty="0">
                <a:solidFill>
                  <a:schemeClr val="tx1"/>
                </a:solidFill>
              </a:rPr>
              <a:t>Marks rows new, changed, same</a:t>
            </a:r>
            <a:endParaRPr lang="en-US" sz="1400" dirty="0"/>
          </a:p>
        </p:txBody>
      </p:sp>
      <p:sp>
        <p:nvSpPr>
          <p:cNvPr id="24" name="Stage card Prepare tables"/>
          <p:cNvSpPr/>
          <p:nvPr/>
        </p:nvSpPr>
        <p:spPr>
          <a:xfrm>
            <a:off x="4389120" y="3749040"/>
            <a:ext cx="3383280" cy="1828800"/>
          </a:xfrm>
          <a:prstGeom prst="roundRect">
            <a:avLst>
              <a:gd name="adj" fmla="val 6000"/>
            </a:avLst>
          </a:prstGeom>
          <a:solidFill>
            <a:schemeClr val="bg2"/>
          </a:solidFill>
          <a:ln/>
        </p:spPr>
      </p:sp>
      <p:sp>
        <p:nvSpPr>
          <p:cNvPr id="25" name="Stage number 5"/>
          <p:cNvSpPr txBox="1"/>
          <p:nvPr/>
        </p:nvSpPr>
        <p:spPr>
          <a:xfrm>
            <a:off x="4572000" y="3913632"/>
            <a:ext cx="457200" cy="45720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6" name="Stage title Prepare tables"/>
          <p:cNvSpPr txBox="1"/>
          <p:nvPr/>
        </p:nvSpPr>
        <p:spPr>
          <a:xfrm>
            <a:off x="5166360" y="3913632"/>
            <a:ext cx="2468880" cy="457200"/>
          </a:xfrm>
          <a:prstGeom prst="rect">
            <a:avLst/>
          </a:prstGeom>
          <a:noFill/>
          <a:ln/>
        </p:spPr>
        <p:txBody>
          <a:bodyPr wrap="square" lIns="0" tIns="0" rIns="0" bIns="0" rtlCol="0" anchor="ctr"/>
          <a:lstStyle/>
          <a:p>
            <a:pPr marL="0" indent="0">
              <a:buNone/>
            </a:pPr>
            <a:r>
              <a:rPr lang="en-US" sz="1800" b="1" dirty="0">
                <a:solidFill>
                  <a:schemeClr val="tx2"/>
                </a:solidFill>
              </a:rPr>
              <a:t>Prepare tables</a:t>
            </a:r>
            <a:endParaRPr lang="en-US" sz="1800" dirty="0"/>
          </a:p>
        </p:txBody>
      </p:sp>
      <p:sp>
        <p:nvSpPr>
          <p:cNvPr id="27" name="Stage file Prepare tables"/>
          <p:cNvSpPr txBox="1"/>
          <p:nvPr/>
        </p:nvSpPr>
        <p:spPr>
          <a:xfrm>
            <a:off x="4572000" y="4462272"/>
            <a:ext cx="3017520" cy="274320"/>
          </a:xfrm>
          <a:prstGeom prst="rect">
            <a:avLst/>
          </a:prstGeom>
          <a:noFill/>
          <a:ln/>
        </p:spPr>
        <p:txBody>
          <a:bodyPr wrap="square" lIns="0" tIns="0" rIns="0" bIns="0" rtlCol="0" anchor="t"/>
          <a:lstStyle/>
          <a:p>
            <a:pPr marL="0" indent="0">
              <a:buNone/>
            </a:pPr>
            <a:r>
              <a:rPr lang="en-US" sz="1200" i="1" dirty="0">
                <a:solidFill>
                  <a:schemeClr val="accent1"/>
                </a:solidFill>
              </a:rPr>
              <a:t>prepare_tables.py</a:t>
            </a:r>
            <a:endParaRPr lang="en-US" sz="1200" dirty="0"/>
          </a:p>
        </p:txBody>
      </p:sp>
      <p:sp>
        <p:nvSpPr>
          <p:cNvPr id="28" name="Stage detail Prepare tables"/>
          <p:cNvSpPr txBox="1"/>
          <p:nvPr/>
        </p:nvSpPr>
        <p:spPr>
          <a:xfrm>
            <a:off x="4572000" y="4800600"/>
            <a:ext cx="3017520" cy="685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Splits into 3 tables</a:t>
            </a:r>
            <a:endParaRPr lang="en-US" sz="1400" dirty="0"/>
          </a:p>
          <a:p>
            <a:pPr marL="342900" indent="-342900">
              <a:spcAft>
                <a:spcPts val="400"/>
              </a:spcAft>
              <a:buSzPct val="100000"/>
              <a:buChar char="•"/>
            </a:pPr>
            <a:r>
              <a:rPr lang="en-US" sz="1400" dirty="0">
                <a:solidFill>
                  <a:schemeClr val="tx1"/>
                </a:solidFill>
              </a:rPr>
              <a:t>Monthly rows = 6 x customers</a:t>
            </a:r>
            <a:endParaRPr lang="en-US" sz="1400" dirty="0"/>
          </a:p>
        </p:txBody>
      </p:sp>
      <p:sp>
        <p:nvSpPr>
          <p:cNvPr id="29" name="Stage card Load"/>
          <p:cNvSpPr/>
          <p:nvPr/>
        </p:nvSpPr>
        <p:spPr>
          <a:xfrm>
            <a:off x="8229600" y="3749040"/>
            <a:ext cx="3383280" cy="1828800"/>
          </a:xfrm>
          <a:prstGeom prst="roundRect">
            <a:avLst>
              <a:gd name="adj" fmla="val 6000"/>
            </a:avLst>
          </a:prstGeom>
          <a:solidFill>
            <a:schemeClr val="bg2"/>
          </a:solidFill>
          <a:ln/>
        </p:spPr>
      </p:sp>
      <p:sp>
        <p:nvSpPr>
          <p:cNvPr id="30" name="Stage number 6"/>
          <p:cNvSpPr txBox="1"/>
          <p:nvPr/>
        </p:nvSpPr>
        <p:spPr>
          <a:xfrm>
            <a:off x="8412480" y="3913632"/>
            <a:ext cx="457200" cy="45720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31" name="Stage title Load"/>
          <p:cNvSpPr txBox="1"/>
          <p:nvPr/>
        </p:nvSpPr>
        <p:spPr>
          <a:xfrm>
            <a:off x="9006840" y="3913632"/>
            <a:ext cx="2468880" cy="457200"/>
          </a:xfrm>
          <a:prstGeom prst="rect">
            <a:avLst/>
          </a:prstGeom>
          <a:noFill/>
          <a:ln/>
        </p:spPr>
        <p:txBody>
          <a:bodyPr wrap="square" lIns="0" tIns="0" rIns="0" bIns="0" rtlCol="0" anchor="ctr"/>
          <a:lstStyle/>
          <a:p>
            <a:pPr marL="0" indent="0">
              <a:buNone/>
            </a:pPr>
            <a:r>
              <a:rPr lang="en-US" sz="1800" b="1" dirty="0">
                <a:solidFill>
                  <a:schemeClr val="tx2"/>
                </a:solidFill>
              </a:rPr>
              <a:t>Load</a:t>
            </a:r>
            <a:endParaRPr lang="en-US" sz="1800" dirty="0"/>
          </a:p>
        </p:txBody>
      </p:sp>
      <p:sp>
        <p:nvSpPr>
          <p:cNvPr id="32" name="Stage file Load"/>
          <p:cNvSpPr txBox="1"/>
          <p:nvPr/>
        </p:nvSpPr>
        <p:spPr>
          <a:xfrm>
            <a:off x="8412480" y="4462272"/>
            <a:ext cx="3017520" cy="274320"/>
          </a:xfrm>
          <a:prstGeom prst="rect">
            <a:avLst/>
          </a:prstGeom>
          <a:noFill/>
          <a:ln/>
        </p:spPr>
        <p:txBody>
          <a:bodyPr wrap="square" lIns="0" tIns="0" rIns="0" bIns="0" rtlCol="0" anchor="t"/>
          <a:lstStyle/>
          <a:p>
            <a:pPr marL="0" indent="0">
              <a:buNone/>
            </a:pPr>
            <a:r>
              <a:rPr lang="en-US" sz="1200" i="1" dirty="0">
                <a:solidFill>
                  <a:schemeClr val="accent1"/>
                </a:solidFill>
              </a:rPr>
              <a:t>load.py</a:t>
            </a:r>
            <a:endParaRPr lang="en-US" sz="1200" dirty="0"/>
          </a:p>
        </p:txBody>
      </p:sp>
      <p:sp>
        <p:nvSpPr>
          <p:cNvPr id="33" name="Stage detail Load"/>
          <p:cNvSpPr txBox="1"/>
          <p:nvPr/>
        </p:nvSpPr>
        <p:spPr>
          <a:xfrm>
            <a:off x="8412480" y="4800600"/>
            <a:ext cx="3017520" cy="685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One transaction + audit row</a:t>
            </a:r>
            <a:endParaRPr lang="en-US" sz="1400" dirty="0"/>
          </a:p>
          <a:p>
            <a:pPr marL="342900" indent="-342900">
              <a:spcAft>
                <a:spcPts val="400"/>
              </a:spcAft>
              <a:buSzPct val="100000"/>
              <a:buChar char="•"/>
            </a:pPr>
            <a:r>
              <a:rPr lang="en-US" sz="1400" dirty="0">
                <a:solidFill>
                  <a:schemeClr val="tx1"/>
                </a:solidFill>
              </a:rPr>
              <a:t>Error: rollback, FAILED log</a:t>
            </a:r>
            <a:endParaRPr lang="en-US" sz="1400" dirty="0"/>
          </a:p>
        </p:txBody>
      </p:sp>
      <p:sp>
        <p:nvSpPr>
          <p:cNvPr id="34" name="ETL arrow 0"/>
          <p:cNvSpPr/>
          <p:nvPr/>
        </p:nvSpPr>
        <p:spPr>
          <a:xfrm>
            <a:off x="3931920" y="2514600"/>
            <a:ext cx="457200" cy="0"/>
          </a:xfrm>
          <a:prstGeom prst="line">
            <a:avLst/>
          </a:prstGeom>
          <a:noFill/>
          <a:ln w="25400">
            <a:solidFill>
              <a:schemeClr val="tx2"/>
            </a:solidFill>
            <a:prstDash val="solid"/>
            <a:tailEnd type="triangle"/>
          </a:ln>
        </p:spPr>
      </p:sp>
      <p:sp>
        <p:nvSpPr>
          <p:cNvPr id="35" name="ETL arrow 1"/>
          <p:cNvSpPr/>
          <p:nvPr/>
        </p:nvSpPr>
        <p:spPr>
          <a:xfrm>
            <a:off x="7772400" y="2514600"/>
            <a:ext cx="457200" cy="0"/>
          </a:xfrm>
          <a:prstGeom prst="line">
            <a:avLst/>
          </a:prstGeom>
          <a:noFill/>
          <a:ln w="25400">
            <a:solidFill>
              <a:schemeClr val="tx2"/>
            </a:solidFill>
            <a:prstDash val="solid"/>
            <a:tailEnd type="triangle"/>
          </a:ln>
        </p:spPr>
      </p:sp>
      <p:sp>
        <p:nvSpPr>
          <p:cNvPr id="36" name="ETL arrow 2"/>
          <p:cNvSpPr/>
          <p:nvPr/>
        </p:nvSpPr>
        <p:spPr>
          <a:xfrm>
            <a:off x="3931920" y="4663440"/>
            <a:ext cx="457200" cy="0"/>
          </a:xfrm>
          <a:prstGeom prst="line">
            <a:avLst/>
          </a:prstGeom>
          <a:noFill/>
          <a:ln w="25400">
            <a:solidFill>
              <a:schemeClr val="tx2"/>
            </a:solidFill>
            <a:prstDash val="solid"/>
            <a:tailEnd type="triangle"/>
          </a:ln>
        </p:spPr>
      </p:sp>
      <p:sp>
        <p:nvSpPr>
          <p:cNvPr id="37" name="ETL arrow 3"/>
          <p:cNvSpPr/>
          <p:nvPr/>
        </p:nvSpPr>
        <p:spPr>
          <a:xfrm>
            <a:off x="7772400" y="4663440"/>
            <a:ext cx="457200" cy="0"/>
          </a:xfrm>
          <a:prstGeom prst="line">
            <a:avLst/>
          </a:prstGeom>
          <a:noFill/>
          <a:ln w="25400">
            <a:solidFill>
              <a:schemeClr val="tx2"/>
            </a:solidFill>
            <a:prstDash val="solid"/>
            <a:tailEnd type="triangle"/>
          </a:ln>
        </p:spPr>
      </p:sp>
      <p:sp>
        <p:nvSpPr>
          <p:cNvPr id="38" name="ETL elbow down"/>
          <p:cNvSpPr/>
          <p:nvPr/>
        </p:nvSpPr>
        <p:spPr>
          <a:xfrm>
            <a:off x="9921240" y="3429000"/>
            <a:ext cx="0" cy="160020"/>
          </a:xfrm>
          <a:prstGeom prst="line">
            <a:avLst/>
          </a:prstGeom>
          <a:noFill/>
          <a:ln w="25400">
            <a:solidFill>
              <a:schemeClr val="tx2"/>
            </a:solidFill>
            <a:prstDash val="solid"/>
          </a:ln>
        </p:spPr>
      </p:sp>
      <p:sp>
        <p:nvSpPr>
          <p:cNvPr id="39" name="ETL elbow across"/>
          <p:cNvSpPr/>
          <p:nvPr/>
        </p:nvSpPr>
        <p:spPr>
          <a:xfrm>
            <a:off x="2240280" y="3589020"/>
            <a:ext cx="7680960" cy="0"/>
          </a:xfrm>
          <a:prstGeom prst="line">
            <a:avLst/>
          </a:prstGeom>
          <a:noFill/>
          <a:ln w="25400">
            <a:solidFill>
              <a:schemeClr val="tx2"/>
            </a:solidFill>
            <a:prstDash val="solid"/>
          </a:ln>
        </p:spPr>
      </p:sp>
      <p:sp>
        <p:nvSpPr>
          <p:cNvPr id="40" name="ETL elbow into stage 4"/>
          <p:cNvSpPr/>
          <p:nvPr/>
        </p:nvSpPr>
        <p:spPr>
          <a:xfrm>
            <a:off x="2240280" y="3589020"/>
            <a:ext cx="0" cy="160020"/>
          </a:xfrm>
          <a:prstGeom prst="line">
            <a:avLst/>
          </a:prstGeom>
          <a:noFill/>
          <a:ln w="25400">
            <a:solidFill>
              <a:schemeClr val="tx2"/>
            </a:solidFill>
            <a:prstDash val="solid"/>
            <a:tailEnd type="triangle"/>
          </a:ln>
        </p:spPr>
      </p:sp>
      <p:sp>
        <p:nvSpPr>
          <p:cNvPr id="41" name="Guarantees label"/>
          <p:cNvSpPr txBox="1"/>
          <p:nvPr/>
        </p:nvSpPr>
        <p:spPr>
          <a:xfrm>
            <a:off x="548640" y="5852160"/>
            <a:ext cx="2651760" cy="365760"/>
          </a:xfrm>
          <a:prstGeom prst="rect">
            <a:avLst/>
          </a:prstGeom>
          <a:noFill/>
          <a:ln/>
        </p:spPr>
        <p:txBody>
          <a:bodyPr wrap="square" lIns="0" tIns="0" rIns="0" bIns="0" rtlCol="0" anchor="ctr"/>
          <a:lstStyle/>
          <a:p>
            <a:pPr marL="0" indent="0">
              <a:buNone/>
            </a:pPr>
            <a:r>
              <a:rPr lang="en-US" sz="1500" b="1" dirty="0">
                <a:solidFill>
                  <a:schemeClr val="tx2"/>
                </a:solidFill>
              </a:rPr>
              <a:t>Design guarantees</a:t>
            </a:r>
            <a:endParaRPr lang="en-US" sz="1500" dirty="0"/>
          </a:p>
        </p:txBody>
      </p:sp>
      <p:sp>
        <p:nvSpPr>
          <p:cNvPr id="42" name="Guarantee Incremental"/>
          <p:cNvSpPr txBox="1"/>
          <p:nvPr/>
        </p:nvSpPr>
        <p:spPr>
          <a:xfrm>
            <a:off x="3383280" y="5852160"/>
            <a:ext cx="1920240" cy="365760"/>
          </a:xfrm>
          <a:prstGeom prst="roundRect">
            <a:avLst>
              <a:gd name="adj" fmla="val 50000"/>
            </a:avLst>
          </a:prstGeom>
          <a:solidFill>
            <a:schemeClr val="accent2"/>
          </a:solidFill>
          <a:ln/>
        </p:spPr>
        <p:txBody>
          <a:bodyPr wrap="square" lIns="0" tIns="0" rIns="0" bIns="0" rtlCol="0" anchor="ctr"/>
          <a:lstStyle/>
          <a:p>
            <a:pPr marL="0" indent="0" algn="ctr">
              <a:buNone/>
            </a:pPr>
            <a:r>
              <a:rPr lang="en-US" sz="1400" b="1" dirty="0">
                <a:solidFill>
                  <a:schemeClr val="bg1"/>
                </a:solidFill>
              </a:rPr>
              <a:t>Incremental</a:t>
            </a:r>
            <a:endParaRPr lang="en-US" sz="1400" dirty="0"/>
          </a:p>
        </p:txBody>
      </p:sp>
      <p:sp>
        <p:nvSpPr>
          <p:cNvPr id="43" name="Guarantee Idempotent"/>
          <p:cNvSpPr txBox="1"/>
          <p:nvPr/>
        </p:nvSpPr>
        <p:spPr>
          <a:xfrm>
            <a:off x="5486400" y="5852160"/>
            <a:ext cx="1920240" cy="365760"/>
          </a:xfrm>
          <a:prstGeom prst="roundRect">
            <a:avLst>
              <a:gd name="adj" fmla="val 50000"/>
            </a:avLst>
          </a:prstGeom>
          <a:solidFill>
            <a:schemeClr val="accent2"/>
          </a:solidFill>
          <a:ln/>
        </p:spPr>
        <p:txBody>
          <a:bodyPr wrap="square" lIns="0" tIns="0" rIns="0" bIns="0" rtlCol="0" anchor="ctr"/>
          <a:lstStyle/>
          <a:p>
            <a:pPr marL="0" indent="0" algn="ctr">
              <a:buNone/>
            </a:pPr>
            <a:r>
              <a:rPr lang="en-US" sz="1400" b="1" dirty="0">
                <a:solidFill>
                  <a:schemeClr val="bg1"/>
                </a:solidFill>
              </a:rPr>
              <a:t>Idempotent</a:t>
            </a:r>
            <a:endParaRPr lang="en-US" sz="1400" dirty="0"/>
          </a:p>
        </p:txBody>
      </p:sp>
      <p:sp>
        <p:nvSpPr>
          <p:cNvPr id="44" name="Guarantee Atomic"/>
          <p:cNvSpPr txBox="1"/>
          <p:nvPr/>
        </p:nvSpPr>
        <p:spPr>
          <a:xfrm>
            <a:off x="7589520" y="5852160"/>
            <a:ext cx="1920240" cy="365760"/>
          </a:xfrm>
          <a:prstGeom prst="roundRect">
            <a:avLst>
              <a:gd name="adj" fmla="val 50000"/>
            </a:avLst>
          </a:prstGeom>
          <a:solidFill>
            <a:schemeClr val="accent2"/>
          </a:solidFill>
          <a:ln/>
        </p:spPr>
        <p:txBody>
          <a:bodyPr wrap="square" lIns="0" tIns="0" rIns="0" bIns="0" rtlCol="0" anchor="ctr"/>
          <a:lstStyle/>
          <a:p>
            <a:pPr marL="0" indent="0" algn="ctr">
              <a:buNone/>
            </a:pPr>
            <a:r>
              <a:rPr lang="en-US" sz="1400" b="1" dirty="0">
                <a:solidFill>
                  <a:schemeClr val="bg1"/>
                </a:solidFill>
              </a:rPr>
              <a:t>Atomic</a:t>
            </a:r>
            <a:endParaRPr lang="en-US" sz="1400" dirty="0"/>
          </a:p>
        </p:txBody>
      </p:sp>
      <p:sp>
        <p:nvSpPr>
          <p:cNvPr id="45" name="Guarantee Auditable"/>
          <p:cNvSpPr txBox="1"/>
          <p:nvPr/>
        </p:nvSpPr>
        <p:spPr>
          <a:xfrm>
            <a:off x="9692640" y="5852160"/>
            <a:ext cx="1920240" cy="365760"/>
          </a:xfrm>
          <a:prstGeom prst="roundRect">
            <a:avLst>
              <a:gd name="adj" fmla="val 50000"/>
            </a:avLst>
          </a:prstGeom>
          <a:solidFill>
            <a:schemeClr val="accent2"/>
          </a:solidFill>
          <a:ln/>
        </p:spPr>
        <p:txBody>
          <a:bodyPr wrap="square" lIns="0" tIns="0" rIns="0" bIns="0" rtlCol="0" anchor="ctr"/>
          <a:lstStyle/>
          <a:p>
            <a:pPr marL="0" indent="0" algn="ctr">
              <a:buNone/>
            </a:pPr>
            <a:r>
              <a:rPr lang="en-US" sz="1400" b="1" dirty="0">
                <a:solidFill>
                  <a:schemeClr val="bg1"/>
                </a:solidFill>
              </a:rPr>
              <a:t>Auditable</a:t>
            </a:r>
            <a:endParaRPr lang="en-US" sz="1400" dirty="0"/>
          </a:p>
        </p:txBody>
      </p:sp>
      <p:sp>
        <p:nvSpPr>
          <p:cNvPr id="46"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3A6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Technology stack</a:t>
            </a:r>
            <a:endParaRPr lang="en-US" sz="3400" dirty="0"/>
          </a:p>
        </p:txBody>
      </p:sp>
      <p:sp>
        <p:nvSpPr>
          <p:cNvPr id="3" name="Stack card Language"/>
          <p:cNvSpPr/>
          <p:nvPr/>
        </p:nvSpPr>
        <p:spPr>
          <a:xfrm>
            <a:off x="548640" y="1463040"/>
            <a:ext cx="2606040" cy="2057400"/>
          </a:xfrm>
          <a:prstGeom prst="roundRect">
            <a:avLst>
              <a:gd name="adj" fmla="val 5333"/>
            </a:avLst>
          </a:prstGeom>
          <a:solidFill>
            <a:schemeClr val="bg2"/>
          </a:solidFill>
          <a:ln/>
        </p:spPr>
      </p:sp>
      <p:sp>
        <p:nvSpPr>
          <p:cNvPr id="4" name="Language icon circle"/>
          <p:cNvSpPr/>
          <p:nvPr/>
        </p:nvSpPr>
        <p:spPr>
          <a:xfrm>
            <a:off x="777240" y="1691640"/>
            <a:ext cx="594360" cy="594360"/>
          </a:xfrm>
          <a:prstGeom prst="ellipse">
            <a:avLst/>
          </a:prstGeom>
          <a:solidFill>
            <a:schemeClr val="tx2"/>
          </a:solidFill>
          <a:ln/>
        </p:spPr>
      </p:sp>
      <p:pic>
        <p:nvPicPr>
          <p:cNvPr id="5" name="Language icon" descr="Language icon"/>
          <p:cNvPicPr>
            <a:picLocks noChangeAspect="1"/>
          </p:cNvPicPr>
          <p:nvPr/>
        </p:nvPicPr>
        <p:blipFill>
          <a:blip r:embed="rId3"/>
          <a:stretch>
            <a:fillRect/>
          </a:stretch>
        </p:blipFill>
        <p:spPr>
          <a:xfrm>
            <a:off x="937717" y="1852117"/>
            <a:ext cx="273406" cy="273406"/>
          </a:xfrm>
          <a:prstGeom prst="rect">
            <a:avLst/>
          </a:prstGeom>
        </p:spPr>
      </p:pic>
      <p:sp>
        <p:nvSpPr>
          <p:cNvPr id="6" name="Language label"/>
          <p:cNvSpPr txBox="1"/>
          <p:nvPr/>
        </p:nvSpPr>
        <p:spPr>
          <a:xfrm>
            <a:off x="777240" y="2423160"/>
            <a:ext cx="2194560" cy="274320"/>
          </a:xfrm>
          <a:prstGeom prst="rect">
            <a:avLst/>
          </a:prstGeom>
          <a:noFill/>
          <a:ln/>
        </p:spPr>
        <p:txBody>
          <a:bodyPr wrap="square" lIns="0" tIns="0" rIns="0" bIns="0" rtlCol="0" anchor="t"/>
          <a:lstStyle/>
          <a:p>
            <a:pPr marL="0" indent="0">
              <a:buNone/>
            </a:pPr>
            <a:r>
              <a:rPr lang="en-US" sz="1300" b="1" dirty="0">
                <a:solidFill>
                  <a:schemeClr val="accent1"/>
                </a:solidFill>
              </a:rPr>
              <a:t>Language</a:t>
            </a:r>
            <a:endParaRPr lang="en-US" sz="1300" dirty="0"/>
          </a:p>
        </p:txBody>
      </p:sp>
      <p:sp>
        <p:nvSpPr>
          <p:cNvPr id="7" name="Language techs"/>
          <p:cNvSpPr txBox="1"/>
          <p:nvPr/>
        </p:nvSpPr>
        <p:spPr>
          <a:xfrm>
            <a:off x="777240" y="2743200"/>
            <a:ext cx="2194560" cy="685800"/>
          </a:xfrm>
          <a:prstGeom prst="rect">
            <a:avLst/>
          </a:prstGeom>
          <a:noFill/>
          <a:ln/>
        </p:spPr>
        <p:txBody>
          <a:bodyPr wrap="square" lIns="0" tIns="0" rIns="0" bIns="0" rtlCol="0" anchor="t"/>
          <a:lstStyle/>
          <a:p>
            <a:pPr marL="0" indent="0">
              <a:buNone/>
            </a:pPr>
            <a:r>
              <a:rPr lang="en-US" sz="1600" b="1" dirty="0">
                <a:solidFill>
                  <a:schemeClr val="tx2"/>
                </a:solidFill>
              </a:rPr>
              <a:t>Python</a:t>
            </a:r>
            <a:endParaRPr lang="en-US" sz="1600" dirty="0"/>
          </a:p>
        </p:txBody>
      </p:sp>
      <p:sp>
        <p:nvSpPr>
          <p:cNvPr id="8" name="Stack card Data processing"/>
          <p:cNvSpPr/>
          <p:nvPr/>
        </p:nvSpPr>
        <p:spPr>
          <a:xfrm>
            <a:off x="3355848" y="1463040"/>
            <a:ext cx="2606040" cy="2057400"/>
          </a:xfrm>
          <a:prstGeom prst="roundRect">
            <a:avLst>
              <a:gd name="adj" fmla="val 5333"/>
            </a:avLst>
          </a:prstGeom>
          <a:solidFill>
            <a:schemeClr val="bg2"/>
          </a:solidFill>
          <a:ln/>
        </p:spPr>
      </p:sp>
      <p:sp>
        <p:nvSpPr>
          <p:cNvPr id="9" name="Data processing icon circle"/>
          <p:cNvSpPr/>
          <p:nvPr/>
        </p:nvSpPr>
        <p:spPr>
          <a:xfrm>
            <a:off x="3584448" y="1691640"/>
            <a:ext cx="594360" cy="594360"/>
          </a:xfrm>
          <a:prstGeom prst="ellipse">
            <a:avLst/>
          </a:prstGeom>
          <a:solidFill>
            <a:schemeClr val="tx2"/>
          </a:solidFill>
          <a:ln/>
        </p:spPr>
      </p:sp>
      <p:pic>
        <p:nvPicPr>
          <p:cNvPr id="10" name="Data processing icon" descr="Data processing icon"/>
          <p:cNvPicPr>
            <a:picLocks noChangeAspect="1"/>
          </p:cNvPicPr>
          <p:nvPr/>
        </p:nvPicPr>
        <p:blipFill>
          <a:blip r:embed="rId4"/>
          <a:stretch>
            <a:fillRect/>
          </a:stretch>
        </p:blipFill>
        <p:spPr>
          <a:xfrm>
            <a:off x="3744925" y="1852117"/>
            <a:ext cx="273406" cy="273406"/>
          </a:xfrm>
          <a:prstGeom prst="rect">
            <a:avLst/>
          </a:prstGeom>
        </p:spPr>
      </p:pic>
      <p:sp>
        <p:nvSpPr>
          <p:cNvPr id="11" name="Data processing label"/>
          <p:cNvSpPr txBox="1"/>
          <p:nvPr/>
        </p:nvSpPr>
        <p:spPr>
          <a:xfrm>
            <a:off x="3584448" y="2423160"/>
            <a:ext cx="2194560" cy="274320"/>
          </a:xfrm>
          <a:prstGeom prst="rect">
            <a:avLst/>
          </a:prstGeom>
          <a:noFill/>
          <a:ln/>
        </p:spPr>
        <p:txBody>
          <a:bodyPr wrap="square" lIns="0" tIns="0" rIns="0" bIns="0" rtlCol="0" anchor="t"/>
          <a:lstStyle/>
          <a:p>
            <a:pPr marL="0" indent="0">
              <a:buNone/>
            </a:pPr>
            <a:r>
              <a:rPr lang="en-US" sz="1300" b="1" dirty="0">
                <a:solidFill>
                  <a:schemeClr val="accent1"/>
                </a:solidFill>
              </a:rPr>
              <a:t>Data processing</a:t>
            </a:r>
            <a:endParaRPr lang="en-US" sz="1300" dirty="0"/>
          </a:p>
        </p:txBody>
      </p:sp>
      <p:sp>
        <p:nvSpPr>
          <p:cNvPr id="12" name="Data processing techs"/>
          <p:cNvSpPr txBox="1"/>
          <p:nvPr/>
        </p:nvSpPr>
        <p:spPr>
          <a:xfrm>
            <a:off x="3584448" y="2743200"/>
            <a:ext cx="2194560" cy="685800"/>
          </a:xfrm>
          <a:prstGeom prst="rect">
            <a:avLst/>
          </a:prstGeom>
          <a:noFill/>
          <a:ln/>
        </p:spPr>
        <p:txBody>
          <a:bodyPr wrap="square" lIns="0" tIns="0" rIns="0" bIns="0" rtlCol="0" anchor="t"/>
          <a:lstStyle/>
          <a:p>
            <a:pPr marL="0" indent="0">
              <a:buNone/>
            </a:pPr>
            <a:r>
              <a:rPr lang="en-US" sz="1600" b="1" dirty="0">
                <a:solidFill>
                  <a:schemeClr val="tx2"/>
                </a:solidFill>
              </a:rPr>
              <a:t>Pandas, NumPy</a:t>
            </a:r>
            <a:endParaRPr lang="en-US" sz="1600" dirty="0"/>
          </a:p>
        </p:txBody>
      </p:sp>
      <p:sp>
        <p:nvSpPr>
          <p:cNvPr id="13" name="Stack card Database"/>
          <p:cNvSpPr/>
          <p:nvPr/>
        </p:nvSpPr>
        <p:spPr>
          <a:xfrm>
            <a:off x="6163056" y="1463040"/>
            <a:ext cx="2606040" cy="2057400"/>
          </a:xfrm>
          <a:prstGeom prst="roundRect">
            <a:avLst>
              <a:gd name="adj" fmla="val 5333"/>
            </a:avLst>
          </a:prstGeom>
          <a:solidFill>
            <a:schemeClr val="bg2"/>
          </a:solidFill>
          <a:ln/>
        </p:spPr>
      </p:sp>
      <p:sp>
        <p:nvSpPr>
          <p:cNvPr id="14" name="Database icon circle"/>
          <p:cNvSpPr/>
          <p:nvPr/>
        </p:nvSpPr>
        <p:spPr>
          <a:xfrm>
            <a:off x="6391656" y="1691640"/>
            <a:ext cx="594360" cy="594360"/>
          </a:xfrm>
          <a:prstGeom prst="ellipse">
            <a:avLst/>
          </a:prstGeom>
          <a:solidFill>
            <a:schemeClr val="tx2"/>
          </a:solidFill>
          <a:ln/>
        </p:spPr>
      </p:sp>
      <p:pic>
        <p:nvPicPr>
          <p:cNvPr id="15" name="Database icon" descr="Database icon"/>
          <p:cNvPicPr>
            <a:picLocks noChangeAspect="1"/>
          </p:cNvPicPr>
          <p:nvPr/>
        </p:nvPicPr>
        <p:blipFill>
          <a:blip r:embed="rId5"/>
          <a:stretch>
            <a:fillRect/>
          </a:stretch>
        </p:blipFill>
        <p:spPr>
          <a:xfrm>
            <a:off x="6552133" y="1852117"/>
            <a:ext cx="273406" cy="273406"/>
          </a:xfrm>
          <a:prstGeom prst="rect">
            <a:avLst/>
          </a:prstGeom>
        </p:spPr>
      </p:pic>
      <p:sp>
        <p:nvSpPr>
          <p:cNvPr id="16" name="Database label"/>
          <p:cNvSpPr txBox="1"/>
          <p:nvPr/>
        </p:nvSpPr>
        <p:spPr>
          <a:xfrm>
            <a:off x="6391656" y="2423160"/>
            <a:ext cx="2194560" cy="274320"/>
          </a:xfrm>
          <a:prstGeom prst="rect">
            <a:avLst/>
          </a:prstGeom>
          <a:noFill/>
          <a:ln/>
        </p:spPr>
        <p:txBody>
          <a:bodyPr wrap="square" lIns="0" tIns="0" rIns="0" bIns="0" rtlCol="0" anchor="t"/>
          <a:lstStyle/>
          <a:p>
            <a:pPr marL="0" indent="0">
              <a:buNone/>
            </a:pPr>
            <a:r>
              <a:rPr lang="en-US" sz="1300" b="1" dirty="0">
                <a:solidFill>
                  <a:schemeClr val="accent1"/>
                </a:solidFill>
              </a:rPr>
              <a:t>Database</a:t>
            </a:r>
            <a:endParaRPr lang="en-US" sz="1300" dirty="0"/>
          </a:p>
        </p:txBody>
      </p:sp>
      <p:sp>
        <p:nvSpPr>
          <p:cNvPr id="17" name="Database techs"/>
          <p:cNvSpPr txBox="1"/>
          <p:nvPr/>
        </p:nvSpPr>
        <p:spPr>
          <a:xfrm>
            <a:off x="6391656" y="2743200"/>
            <a:ext cx="2194560" cy="685800"/>
          </a:xfrm>
          <a:prstGeom prst="rect">
            <a:avLst/>
          </a:prstGeom>
          <a:noFill/>
          <a:ln/>
        </p:spPr>
        <p:txBody>
          <a:bodyPr wrap="square" lIns="0" tIns="0" rIns="0" bIns="0" rtlCol="0" anchor="t"/>
          <a:lstStyle/>
          <a:p>
            <a:pPr marL="0" indent="0">
              <a:buNone/>
            </a:pPr>
            <a:r>
              <a:rPr lang="en-US" sz="1600" b="1" dirty="0">
                <a:solidFill>
                  <a:schemeClr val="tx2"/>
                </a:solidFill>
              </a:rPr>
              <a:t>MySQL</a:t>
            </a:r>
            <a:endParaRPr lang="en-US" sz="1600" dirty="0"/>
          </a:p>
        </p:txBody>
      </p:sp>
      <p:sp>
        <p:nvSpPr>
          <p:cNvPr id="18" name="Stack card Backend"/>
          <p:cNvSpPr/>
          <p:nvPr/>
        </p:nvSpPr>
        <p:spPr>
          <a:xfrm>
            <a:off x="8970264" y="1463040"/>
            <a:ext cx="2606040" cy="2057400"/>
          </a:xfrm>
          <a:prstGeom prst="roundRect">
            <a:avLst>
              <a:gd name="adj" fmla="val 5333"/>
            </a:avLst>
          </a:prstGeom>
          <a:solidFill>
            <a:schemeClr val="bg2"/>
          </a:solidFill>
          <a:ln/>
        </p:spPr>
      </p:sp>
      <p:sp>
        <p:nvSpPr>
          <p:cNvPr id="19" name="Backend icon circle"/>
          <p:cNvSpPr/>
          <p:nvPr/>
        </p:nvSpPr>
        <p:spPr>
          <a:xfrm>
            <a:off x="9198864" y="1691640"/>
            <a:ext cx="594360" cy="594360"/>
          </a:xfrm>
          <a:prstGeom prst="ellipse">
            <a:avLst/>
          </a:prstGeom>
          <a:solidFill>
            <a:schemeClr val="tx2"/>
          </a:solidFill>
          <a:ln/>
        </p:spPr>
      </p:sp>
      <p:pic>
        <p:nvPicPr>
          <p:cNvPr id="20" name="Backend icon" descr="Backend icon"/>
          <p:cNvPicPr>
            <a:picLocks noChangeAspect="1"/>
          </p:cNvPicPr>
          <p:nvPr/>
        </p:nvPicPr>
        <p:blipFill>
          <a:blip r:embed="rId6"/>
          <a:stretch>
            <a:fillRect/>
          </a:stretch>
        </p:blipFill>
        <p:spPr>
          <a:xfrm>
            <a:off x="9359341" y="1852117"/>
            <a:ext cx="273406" cy="273406"/>
          </a:xfrm>
          <a:prstGeom prst="rect">
            <a:avLst/>
          </a:prstGeom>
        </p:spPr>
      </p:pic>
      <p:sp>
        <p:nvSpPr>
          <p:cNvPr id="21" name="Backend label"/>
          <p:cNvSpPr txBox="1"/>
          <p:nvPr/>
        </p:nvSpPr>
        <p:spPr>
          <a:xfrm>
            <a:off x="9198864" y="2423160"/>
            <a:ext cx="2194560" cy="274320"/>
          </a:xfrm>
          <a:prstGeom prst="rect">
            <a:avLst/>
          </a:prstGeom>
          <a:noFill/>
          <a:ln/>
        </p:spPr>
        <p:txBody>
          <a:bodyPr wrap="square" lIns="0" tIns="0" rIns="0" bIns="0" rtlCol="0" anchor="t"/>
          <a:lstStyle/>
          <a:p>
            <a:pPr marL="0" indent="0">
              <a:buNone/>
            </a:pPr>
            <a:r>
              <a:rPr lang="en-US" sz="1300" b="1" dirty="0">
                <a:solidFill>
                  <a:schemeClr val="accent1"/>
                </a:solidFill>
              </a:rPr>
              <a:t>Backend</a:t>
            </a:r>
            <a:endParaRPr lang="en-US" sz="1300" dirty="0"/>
          </a:p>
        </p:txBody>
      </p:sp>
      <p:sp>
        <p:nvSpPr>
          <p:cNvPr id="22" name="Backend techs"/>
          <p:cNvSpPr txBox="1"/>
          <p:nvPr/>
        </p:nvSpPr>
        <p:spPr>
          <a:xfrm>
            <a:off x="9198864" y="2743200"/>
            <a:ext cx="2194560" cy="685800"/>
          </a:xfrm>
          <a:prstGeom prst="rect">
            <a:avLst/>
          </a:prstGeom>
          <a:noFill/>
          <a:ln/>
        </p:spPr>
        <p:txBody>
          <a:bodyPr wrap="square" lIns="0" tIns="0" rIns="0" bIns="0" rtlCol="0" anchor="t"/>
          <a:lstStyle/>
          <a:p>
            <a:pPr marL="0" indent="0">
              <a:buNone/>
            </a:pPr>
            <a:r>
              <a:rPr lang="en-US" sz="1600" b="1" dirty="0">
                <a:solidFill>
                  <a:schemeClr val="tx2"/>
                </a:solidFill>
              </a:rPr>
              <a:t>FastAPI, Pydantic, Uvicorn</a:t>
            </a:r>
            <a:endParaRPr lang="en-US" sz="1600" dirty="0"/>
          </a:p>
        </p:txBody>
      </p:sp>
      <p:sp>
        <p:nvSpPr>
          <p:cNvPr id="23" name="Stack card Frontend"/>
          <p:cNvSpPr/>
          <p:nvPr/>
        </p:nvSpPr>
        <p:spPr>
          <a:xfrm>
            <a:off x="548640" y="3703320"/>
            <a:ext cx="2606040" cy="2057400"/>
          </a:xfrm>
          <a:prstGeom prst="roundRect">
            <a:avLst>
              <a:gd name="adj" fmla="val 5333"/>
            </a:avLst>
          </a:prstGeom>
          <a:solidFill>
            <a:schemeClr val="bg2"/>
          </a:solidFill>
          <a:ln/>
        </p:spPr>
      </p:sp>
      <p:sp>
        <p:nvSpPr>
          <p:cNvPr id="24" name="Frontend icon circle"/>
          <p:cNvSpPr/>
          <p:nvPr/>
        </p:nvSpPr>
        <p:spPr>
          <a:xfrm>
            <a:off x="777240" y="3931920"/>
            <a:ext cx="594360" cy="594360"/>
          </a:xfrm>
          <a:prstGeom prst="ellipse">
            <a:avLst/>
          </a:prstGeom>
          <a:solidFill>
            <a:schemeClr val="tx2"/>
          </a:solidFill>
          <a:ln/>
        </p:spPr>
      </p:sp>
      <p:pic>
        <p:nvPicPr>
          <p:cNvPr id="25" name="Frontend icon" descr="Frontend icon"/>
          <p:cNvPicPr>
            <a:picLocks noChangeAspect="1"/>
          </p:cNvPicPr>
          <p:nvPr/>
        </p:nvPicPr>
        <p:blipFill>
          <a:blip r:embed="rId7"/>
          <a:stretch>
            <a:fillRect/>
          </a:stretch>
        </p:blipFill>
        <p:spPr>
          <a:xfrm>
            <a:off x="937717" y="4092397"/>
            <a:ext cx="273406" cy="273406"/>
          </a:xfrm>
          <a:prstGeom prst="rect">
            <a:avLst/>
          </a:prstGeom>
        </p:spPr>
      </p:pic>
      <p:sp>
        <p:nvSpPr>
          <p:cNvPr id="26" name="Frontend label"/>
          <p:cNvSpPr txBox="1"/>
          <p:nvPr/>
        </p:nvSpPr>
        <p:spPr>
          <a:xfrm>
            <a:off x="777240" y="4663440"/>
            <a:ext cx="2194560" cy="274320"/>
          </a:xfrm>
          <a:prstGeom prst="rect">
            <a:avLst/>
          </a:prstGeom>
          <a:noFill/>
          <a:ln/>
        </p:spPr>
        <p:txBody>
          <a:bodyPr wrap="square" lIns="0" tIns="0" rIns="0" bIns="0" rtlCol="0" anchor="t"/>
          <a:lstStyle/>
          <a:p>
            <a:pPr marL="0" indent="0">
              <a:buNone/>
            </a:pPr>
            <a:r>
              <a:rPr lang="en-US" sz="1300" b="1" dirty="0">
                <a:solidFill>
                  <a:schemeClr val="accent1"/>
                </a:solidFill>
              </a:rPr>
              <a:t>Frontend</a:t>
            </a:r>
            <a:endParaRPr lang="en-US" sz="1300" dirty="0"/>
          </a:p>
        </p:txBody>
      </p:sp>
      <p:sp>
        <p:nvSpPr>
          <p:cNvPr id="27" name="Frontend techs"/>
          <p:cNvSpPr txBox="1"/>
          <p:nvPr/>
        </p:nvSpPr>
        <p:spPr>
          <a:xfrm>
            <a:off x="777240" y="4983480"/>
            <a:ext cx="2194560" cy="685800"/>
          </a:xfrm>
          <a:prstGeom prst="rect">
            <a:avLst/>
          </a:prstGeom>
          <a:noFill/>
          <a:ln/>
        </p:spPr>
        <p:txBody>
          <a:bodyPr wrap="square" lIns="0" tIns="0" rIns="0" bIns="0" rtlCol="0" anchor="t"/>
          <a:lstStyle/>
          <a:p>
            <a:pPr marL="0" indent="0">
              <a:buNone/>
            </a:pPr>
            <a:r>
              <a:rPr lang="en-US" sz="1600" b="1" dirty="0">
                <a:solidFill>
                  <a:schemeClr val="tx2"/>
                </a:solidFill>
              </a:rPr>
              <a:t>Streamlit, Plotly</a:t>
            </a:r>
            <a:endParaRPr lang="en-US" sz="1600" dirty="0"/>
          </a:p>
        </p:txBody>
      </p:sp>
      <p:sp>
        <p:nvSpPr>
          <p:cNvPr id="28" name="Stack card Authentication"/>
          <p:cNvSpPr/>
          <p:nvPr/>
        </p:nvSpPr>
        <p:spPr>
          <a:xfrm>
            <a:off x="3355848" y="3703320"/>
            <a:ext cx="2606040" cy="2057400"/>
          </a:xfrm>
          <a:prstGeom prst="roundRect">
            <a:avLst>
              <a:gd name="adj" fmla="val 5333"/>
            </a:avLst>
          </a:prstGeom>
          <a:solidFill>
            <a:schemeClr val="bg2"/>
          </a:solidFill>
          <a:ln/>
        </p:spPr>
      </p:sp>
      <p:sp>
        <p:nvSpPr>
          <p:cNvPr id="29" name="Authentication icon circle"/>
          <p:cNvSpPr/>
          <p:nvPr/>
        </p:nvSpPr>
        <p:spPr>
          <a:xfrm>
            <a:off x="3584448" y="3931920"/>
            <a:ext cx="594360" cy="594360"/>
          </a:xfrm>
          <a:prstGeom prst="ellipse">
            <a:avLst/>
          </a:prstGeom>
          <a:solidFill>
            <a:schemeClr val="tx2"/>
          </a:solidFill>
          <a:ln/>
        </p:spPr>
      </p:sp>
      <p:pic>
        <p:nvPicPr>
          <p:cNvPr id="30" name="Authentication icon" descr="Authentication icon"/>
          <p:cNvPicPr>
            <a:picLocks noChangeAspect="1"/>
          </p:cNvPicPr>
          <p:nvPr/>
        </p:nvPicPr>
        <p:blipFill>
          <a:blip r:embed="rId8"/>
          <a:stretch>
            <a:fillRect/>
          </a:stretch>
        </p:blipFill>
        <p:spPr>
          <a:xfrm>
            <a:off x="3744925" y="4092397"/>
            <a:ext cx="273406" cy="273406"/>
          </a:xfrm>
          <a:prstGeom prst="rect">
            <a:avLst/>
          </a:prstGeom>
        </p:spPr>
      </p:pic>
      <p:sp>
        <p:nvSpPr>
          <p:cNvPr id="31" name="Authentication label"/>
          <p:cNvSpPr txBox="1"/>
          <p:nvPr/>
        </p:nvSpPr>
        <p:spPr>
          <a:xfrm>
            <a:off x="3584448" y="4663440"/>
            <a:ext cx="2194560" cy="274320"/>
          </a:xfrm>
          <a:prstGeom prst="rect">
            <a:avLst/>
          </a:prstGeom>
          <a:noFill/>
          <a:ln/>
        </p:spPr>
        <p:txBody>
          <a:bodyPr wrap="square" lIns="0" tIns="0" rIns="0" bIns="0" rtlCol="0" anchor="t"/>
          <a:lstStyle/>
          <a:p>
            <a:pPr marL="0" indent="0">
              <a:buNone/>
            </a:pPr>
            <a:r>
              <a:rPr lang="en-US" sz="1300" b="1" dirty="0">
                <a:solidFill>
                  <a:schemeClr val="accent1"/>
                </a:solidFill>
              </a:rPr>
              <a:t>Authentication</a:t>
            </a:r>
            <a:endParaRPr lang="en-US" sz="1300" dirty="0"/>
          </a:p>
        </p:txBody>
      </p:sp>
      <p:sp>
        <p:nvSpPr>
          <p:cNvPr id="32" name="Authentication techs"/>
          <p:cNvSpPr txBox="1"/>
          <p:nvPr/>
        </p:nvSpPr>
        <p:spPr>
          <a:xfrm>
            <a:off x="3584448" y="4983480"/>
            <a:ext cx="2194560" cy="685800"/>
          </a:xfrm>
          <a:prstGeom prst="rect">
            <a:avLst/>
          </a:prstGeom>
          <a:noFill/>
          <a:ln/>
        </p:spPr>
        <p:txBody>
          <a:bodyPr wrap="square" lIns="0" tIns="0" rIns="0" bIns="0" rtlCol="0" anchor="t"/>
          <a:lstStyle/>
          <a:p>
            <a:pPr marL="0" indent="0">
              <a:buNone/>
            </a:pPr>
            <a:r>
              <a:rPr lang="en-US" sz="1600" b="1" dirty="0">
                <a:solidFill>
                  <a:schemeClr val="tx2"/>
                </a:solidFill>
              </a:rPr>
              <a:t>JWT, Argon2 password hashing</a:t>
            </a:r>
            <a:endParaRPr lang="en-US" sz="1600" dirty="0"/>
          </a:p>
        </p:txBody>
      </p:sp>
      <p:sp>
        <p:nvSpPr>
          <p:cNvPr id="33" name="Stack card Testing"/>
          <p:cNvSpPr/>
          <p:nvPr/>
        </p:nvSpPr>
        <p:spPr>
          <a:xfrm>
            <a:off x="6163056" y="3703320"/>
            <a:ext cx="2606040" cy="2057400"/>
          </a:xfrm>
          <a:prstGeom prst="roundRect">
            <a:avLst>
              <a:gd name="adj" fmla="val 5333"/>
            </a:avLst>
          </a:prstGeom>
          <a:solidFill>
            <a:schemeClr val="bg2"/>
          </a:solidFill>
          <a:ln/>
        </p:spPr>
      </p:sp>
      <p:sp>
        <p:nvSpPr>
          <p:cNvPr id="34" name="Testing icon circle"/>
          <p:cNvSpPr/>
          <p:nvPr/>
        </p:nvSpPr>
        <p:spPr>
          <a:xfrm>
            <a:off x="6391656" y="3931920"/>
            <a:ext cx="594360" cy="594360"/>
          </a:xfrm>
          <a:prstGeom prst="ellipse">
            <a:avLst/>
          </a:prstGeom>
          <a:solidFill>
            <a:schemeClr val="tx2"/>
          </a:solidFill>
          <a:ln/>
        </p:spPr>
      </p:sp>
      <p:pic>
        <p:nvPicPr>
          <p:cNvPr id="35" name="Testing icon" descr="Testing icon"/>
          <p:cNvPicPr>
            <a:picLocks noChangeAspect="1"/>
          </p:cNvPicPr>
          <p:nvPr/>
        </p:nvPicPr>
        <p:blipFill>
          <a:blip r:embed="rId9"/>
          <a:stretch>
            <a:fillRect/>
          </a:stretch>
        </p:blipFill>
        <p:spPr>
          <a:xfrm>
            <a:off x="6552133" y="4092397"/>
            <a:ext cx="273406" cy="273406"/>
          </a:xfrm>
          <a:prstGeom prst="rect">
            <a:avLst/>
          </a:prstGeom>
        </p:spPr>
      </p:pic>
      <p:sp>
        <p:nvSpPr>
          <p:cNvPr id="36" name="Testing label"/>
          <p:cNvSpPr txBox="1"/>
          <p:nvPr/>
        </p:nvSpPr>
        <p:spPr>
          <a:xfrm>
            <a:off x="6391656" y="4663440"/>
            <a:ext cx="2194560" cy="274320"/>
          </a:xfrm>
          <a:prstGeom prst="rect">
            <a:avLst/>
          </a:prstGeom>
          <a:noFill/>
          <a:ln/>
        </p:spPr>
        <p:txBody>
          <a:bodyPr wrap="square" lIns="0" tIns="0" rIns="0" bIns="0" rtlCol="0" anchor="t"/>
          <a:lstStyle/>
          <a:p>
            <a:pPr marL="0" indent="0">
              <a:buNone/>
            </a:pPr>
            <a:r>
              <a:rPr lang="en-US" sz="1300" b="1" dirty="0">
                <a:solidFill>
                  <a:schemeClr val="accent1"/>
                </a:solidFill>
              </a:rPr>
              <a:t>Testing</a:t>
            </a:r>
            <a:endParaRPr lang="en-US" sz="1300" dirty="0"/>
          </a:p>
        </p:txBody>
      </p:sp>
      <p:sp>
        <p:nvSpPr>
          <p:cNvPr id="37" name="Testing techs"/>
          <p:cNvSpPr txBox="1"/>
          <p:nvPr/>
        </p:nvSpPr>
        <p:spPr>
          <a:xfrm>
            <a:off x="6391656" y="4983480"/>
            <a:ext cx="2194560" cy="685800"/>
          </a:xfrm>
          <a:prstGeom prst="rect">
            <a:avLst/>
          </a:prstGeom>
          <a:noFill/>
          <a:ln/>
        </p:spPr>
        <p:txBody>
          <a:bodyPr wrap="square" lIns="0" tIns="0" rIns="0" bIns="0" rtlCol="0" anchor="t"/>
          <a:lstStyle/>
          <a:p>
            <a:pPr marL="0" indent="0">
              <a:buNone/>
            </a:pPr>
            <a:r>
              <a:rPr lang="en-US" sz="1600" b="1" dirty="0">
                <a:solidFill>
                  <a:schemeClr val="tx2"/>
                </a:solidFill>
              </a:rPr>
              <a:t>Pytest, pytest-cov</a:t>
            </a:r>
            <a:endParaRPr lang="en-US" sz="1600" dirty="0"/>
          </a:p>
        </p:txBody>
      </p:sp>
      <p:sp>
        <p:nvSpPr>
          <p:cNvPr id="38" name="Stack card Version control"/>
          <p:cNvSpPr/>
          <p:nvPr/>
        </p:nvSpPr>
        <p:spPr>
          <a:xfrm>
            <a:off x="8970264" y="3703320"/>
            <a:ext cx="2606040" cy="2057400"/>
          </a:xfrm>
          <a:prstGeom prst="roundRect">
            <a:avLst>
              <a:gd name="adj" fmla="val 5333"/>
            </a:avLst>
          </a:prstGeom>
          <a:solidFill>
            <a:schemeClr val="bg2"/>
          </a:solidFill>
          <a:ln/>
        </p:spPr>
      </p:sp>
      <p:sp>
        <p:nvSpPr>
          <p:cNvPr id="39" name="Version control icon circle"/>
          <p:cNvSpPr/>
          <p:nvPr/>
        </p:nvSpPr>
        <p:spPr>
          <a:xfrm>
            <a:off x="9198864" y="3931920"/>
            <a:ext cx="594360" cy="594360"/>
          </a:xfrm>
          <a:prstGeom prst="ellipse">
            <a:avLst/>
          </a:prstGeom>
          <a:solidFill>
            <a:schemeClr val="tx2"/>
          </a:solidFill>
          <a:ln/>
        </p:spPr>
      </p:sp>
      <p:pic>
        <p:nvPicPr>
          <p:cNvPr id="40" name="Version control icon" descr="Version control icon"/>
          <p:cNvPicPr>
            <a:picLocks noChangeAspect="1"/>
          </p:cNvPicPr>
          <p:nvPr/>
        </p:nvPicPr>
        <p:blipFill>
          <a:blip r:embed="rId10"/>
          <a:stretch>
            <a:fillRect/>
          </a:stretch>
        </p:blipFill>
        <p:spPr>
          <a:xfrm>
            <a:off x="9359341" y="4092397"/>
            <a:ext cx="273406" cy="273406"/>
          </a:xfrm>
          <a:prstGeom prst="rect">
            <a:avLst/>
          </a:prstGeom>
        </p:spPr>
      </p:pic>
      <p:sp>
        <p:nvSpPr>
          <p:cNvPr id="41" name="Version control label"/>
          <p:cNvSpPr txBox="1"/>
          <p:nvPr/>
        </p:nvSpPr>
        <p:spPr>
          <a:xfrm>
            <a:off x="9198864" y="4663440"/>
            <a:ext cx="2194560" cy="274320"/>
          </a:xfrm>
          <a:prstGeom prst="rect">
            <a:avLst/>
          </a:prstGeom>
          <a:noFill/>
          <a:ln/>
        </p:spPr>
        <p:txBody>
          <a:bodyPr wrap="square" lIns="0" tIns="0" rIns="0" bIns="0" rtlCol="0" anchor="t"/>
          <a:lstStyle/>
          <a:p>
            <a:pPr marL="0" indent="0">
              <a:buNone/>
            </a:pPr>
            <a:r>
              <a:rPr lang="en-US" sz="1300" b="1" dirty="0">
                <a:solidFill>
                  <a:schemeClr val="accent1"/>
                </a:solidFill>
              </a:rPr>
              <a:t>Version control</a:t>
            </a:r>
            <a:endParaRPr lang="en-US" sz="1300" dirty="0"/>
          </a:p>
        </p:txBody>
      </p:sp>
      <p:sp>
        <p:nvSpPr>
          <p:cNvPr id="42" name="Version control techs"/>
          <p:cNvSpPr txBox="1"/>
          <p:nvPr/>
        </p:nvSpPr>
        <p:spPr>
          <a:xfrm>
            <a:off x="9198864" y="4983480"/>
            <a:ext cx="2194560" cy="685800"/>
          </a:xfrm>
          <a:prstGeom prst="rect">
            <a:avLst/>
          </a:prstGeom>
          <a:noFill/>
          <a:ln/>
        </p:spPr>
        <p:txBody>
          <a:bodyPr wrap="square" lIns="0" tIns="0" rIns="0" bIns="0" rtlCol="0" anchor="t"/>
          <a:lstStyle/>
          <a:p>
            <a:pPr marL="0" indent="0">
              <a:buNone/>
            </a:pPr>
            <a:r>
              <a:rPr lang="en-US" sz="1600" b="1" dirty="0">
                <a:solidFill>
                  <a:schemeClr val="tx2"/>
                </a:solidFill>
              </a:rPr>
              <a:t>Git, GitHub</a:t>
            </a:r>
            <a:endParaRPr lang="en-US" sz="1600" dirty="0"/>
          </a:p>
        </p:txBody>
      </p:sp>
      <p:sp>
        <p:nvSpPr>
          <p:cNvPr id="43"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3A6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Demo</a:t>
            </a:r>
            <a:endParaRPr lang="en-US" sz="3400" dirty="0"/>
          </a:p>
        </p:txBody>
      </p:sp>
      <p:sp>
        <p:nvSpPr>
          <p:cNvPr id="3" name="Demo subtitle"/>
          <p:cNvSpPr txBox="1"/>
          <p:nvPr/>
        </p:nvSpPr>
        <p:spPr>
          <a:xfrm>
            <a:off x="548640" y="1097280"/>
            <a:ext cx="11064240" cy="320040"/>
          </a:xfrm>
          <a:prstGeom prst="rect">
            <a:avLst/>
          </a:prstGeom>
          <a:noFill/>
          <a:ln/>
        </p:spPr>
        <p:txBody>
          <a:bodyPr wrap="square" lIns="0" tIns="0" rIns="0" bIns="0" rtlCol="0" anchor="t"/>
          <a:lstStyle/>
          <a:p>
            <a:pPr marL="0" indent="0">
              <a:buNone/>
            </a:pPr>
            <a:r>
              <a:rPr lang="en-US" sz="1400" dirty="0">
                <a:solidFill>
                  <a:schemeClr val="accent1"/>
                </a:solidFill>
              </a:rPr>
              <a:t>Suggested live walkthrough, about 5 minutes</a:t>
            </a:r>
            <a:endParaRPr lang="en-US" sz="1400" dirty="0"/>
          </a:p>
        </p:txBody>
      </p:sp>
      <p:sp>
        <p:nvSpPr>
          <p:cNvPr id="4" name="Demo card Log in"/>
          <p:cNvSpPr/>
          <p:nvPr/>
        </p:nvSpPr>
        <p:spPr>
          <a:xfrm>
            <a:off x="548640" y="1600200"/>
            <a:ext cx="3566160" cy="1920240"/>
          </a:xfrm>
          <a:prstGeom prst="roundRect">
            <a:avLst>
              <a:gd name="adj" fmla="val 5714"/>
            </a:avLst>
          </a:prstGeom>
          <a:solidFill>
            <a:schemeClr val="bg2"/>
          </a:solidFill>
          <a:ln/>
        </p:spPr>
      </p:sp>
      <p:sp>
        <p:nvSpPr>
          <p:cNvPr id="5" name="Demo number 1"/>
          <p:cNvSpPr txBox="1"/>
          <p:nvPr/>
        </p:nvSpPr>
        <p:spPr>
          <a:xfrm>
            <a:off x="777240" y="1828800"/>
            <a:ext cx="502920" cy="50292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Demo heading Log in"/>
          <p:cNvSpPr txBox="1"/>
          <p:nvPr/>
        </p:nvSpPr>
        <p:spPr>
          <a:xfrm>
            <a:off x="1463040" y="1828800"/>
            <a:ext cx="2468880" cy="502920"/>
          </a:xfrm>
          <a:prstGeom prst="rect">
            <a:avLst/>
          </a:prstGeom>
          <a:noFill/>
          <a:ln/>
        </p:spPr>
        <p:txBody>
          <a:bodyPr wrap="square" lIns="0" tIns="0" rIns="0" bIns="0" rtlCol="0" anchor="ctr"/>
          <a:lstStyle/>
          <a:p>
            <a:pPr marL="0" indent="0">
              <a:buNone/>
            </a:pPr>
            <a:r>
              <a:rPr lang="en-US" sz="1800" b="1" dirty="0">
                <a:solidFill>
                  <a:schemeClr val="tx2"/>
                </a:solidFill>
              </a:rPr>
              <a:t>Log in</a:t>
            </a:r>
            <a:endParaRPr lang="en-US" sz="1800" dirty="0"/>
          </a:p>
        </p:txBody>
      </p:sp>
      <p:sp>
        <p:nvSpPr>
          <p:cNvPr id="7" name="Demo text Log in"/>
          <p:cNvSpPr txBox="1"/>
          <p:nvPr/>
        </p:nvSpPr>
        <p:spPr>
          <a:xfrm>
            <a:off x="777240" y="2514600"/>
            <a:ext cx="3108960" cy="914400"/>
          </a:xfrm>
          <a:prstGeom prst="rect">
            <a:avLst/>
          </a:prstGeom>
          <a:noFill/>
          <a:ln/>
        </p:spPr>
        <p:txBody>
          <a:bodyPr wrap="square" lIns="0" tIns="0" rIns="0" bIns="0" rtlCol="0" anchor="t"/>
          <a:lstStyle/>
          <a:p>
            <a:pPr marL="0" indent="0">
              <a:buNone/>
            </a:pPr>
            <a:r>
              <a:rPr lang="en-US" sz="1500" dirty="0">
                <a:solidFill>
                  <a:schemeClr val="tx1"/>
                </a:solidFill>
              </a:rPr>
              <a:t>Sign in as an admin. The sidebar shows pages for that role.</a:t>
            </a:r>
            <a:endParaRPr lang="en-US" sz="1500" dirty="0"/>
          </a:p>
        </p:txBody>
      </p:sp>
      <p:sp>
        <p:nvSpPr>
          <p:cNvPr id="8" name="Demo card Portfolio Overview"/>
          <p:cNvSpPr/>
          <p:nvPr/>
        </p:nvSpPr>
        <p:spPr>
          <a:xfrm>
            <a:off x="4297680" y="1600200"/>
            <a:ext cx="3566160" cy="1920240"/>
          </a:xfrm>
          <a:prstGeom prst="roundRect">
            <a:avLst>
              <a:gd name="adj" fmla="val 5714"/>
            </a:avLst>
          </a:prstGeom>
          <a:solidFill>
            <a:schemeClr val="bg2"/>
          </a:solidFill>
          <a:ln/>
        </p:spPr>
      </p:sp>
      <p:sp>
        <p:nvSpPr>
          <p:cNvPr id="9" name="Demo number 2"/>
          <p:cNvSpPr txBox="1"/>
          <p:nvPr/>
        </p:nvSpPr>
        <p:spPr>
          <a:xfrm>
            <a:off x="4526280" y="1828800"/>
            <a:ext cx="502920" cy="50292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Demo heading Portfolio Overview"/>
          <p:cNvSpPr txBox="1"/>
          <p:nvPr/>
        </p:nvSpPr>
        <p:spPr>
          <a:xfrm>
            <a:off x="5212080" y="1828800"/>
            <a:ext cx="2468880" cy="502920"/>
          </a:xfrm>
          <a:prstGeom prst="rect">
            <a:avLst/>
          </a:prstGeom>
          <a:noFill/>
          <a:ln/>
        </p:spPr>
        <p:txBody>
          <a:bodyPr wrap="square" lIns="0" tIns="0" rIns="0" bIns="0" rtlCol="0" anchor="ctr"/>
          <a:lstStyle/>
          <a:p>
            <a:pPr marL="0" indent="0">
              <a:buNone/>
            </a:pPr>
            <a:r>
              <a:rPr lang="en-US" sz="1800" b="1" dirty="0">
                <a:solidFill>
                  <a:schemeClr val="tx2"/>
                </a:solidFill>
              </a:rPr>
              <a:t>Portfolio Overview</a:t>
            </a:r>
            <a:endParaRPr lang="en-US" sz="1800" dirty="0"/>
          </a:p>
        </p:txBody>
      </p:sp>
      <p:sp>
        <p:nvSpPr>
          <p:cNvPr id="11" name="Demo text Portfolio Overview"/>
          <p:cNvSpPr txBox="1"/>
          <p:nvPr/>
        </p:nvSpPr>
        <p:spPr>
          <a:xfrm>
            <a:off x="4526280" y="2514600"/>
            <a:ext cx="3108960" cy="914400"/>
          </a:xfrm>
          <a:prstGeom prst="rect">
            <a:avLst/>
          </a:prstGeom>
          <a:noFill/>
          <a:ln/>
        </p:spPr>
        <p:txBody>
          <a:bodyPr wrap="square" lIns="0" tIns="0" rIns="0" bIns="0" rtlCol="0" anchor="t"/>
          <a:lstStyle/>
          <a:p>
            <a:pPr marL="0" indent="0">
              <a:buNone/>
            </a:pPr>
            <a:r>
              <a:rPr lang="en-US" sz="1500" dirty="0">
                <a:solidFill>
                  <a:schemeClr val="tx1"/>
                </a:solidFill>
              </a:rPr>
              <a:t>Show KPIs, credit exposure and the historical default rate.</a:t>
            </a:r>
            <a:endParaRPr lang="en-US" sz="1500" dirty="0"/>
          </a:p>
        </p:txBody>
      </p:sp>
      <p:sp>
        <p:nvSpPr>
          <p:cNvPr id="12" name="Demo card Risk Analysis"/>
          <p:cNvSpPr/>
          <p:nvPr/>
        </p:nvSpPr>
        <p:spPr>
          <a:xfrm>
            <a:off x="8046720" y="1600200"/>
            <a:ext cx="3566160" cy="1920240"/>
          </a:xfrm>
          <a:prstGeom prst="roundRect">
            <a:avLst>
              <a:gd name="adj" fmla="val 5714"/>
            </a:avLst>
          </a:prstGeom>
          <a:solidFill>
            <a:schemeClr val="bg2"/>
          </a:solidFill>
          <a:ln/>
        </p:spPr>
      </p:sp>
      <p:sp>
        <p:nvSpPr>
          <p:cNvPr id="13" name="Demo number 3"/>
          <p:cNvSpPr txBox="1"/>
          <p:nvPr/>
        </p:nvSpPr>
        <p:spPr>
          <a:xfrm>
            <a:off x="8275320" y="1828800"/>
            <a:ext cx="502920" cy="50292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4" name="Demo heading Risk Analysis"/>
          <p:cNvSpPr txBox="1"/>
          <p:nvPr/>
        </p:nvSpPr>
        <p:spPr>
          <a:xfrm>
            <a:off x="8961120" y="1828800"/>
            <a:ext cx="2468880" cy="502920"/>
          </a:xfrm>
          <a:prstGeom prst="rect">
            <a:avLst/>
          </a:prstGeom>
          <a:noFill/>
          <a:ln/>
        </p:spPr>
        <p:txBody>
          <a:bodyPr wrap="square" lIns="0" tIns="0" rIns="0" bIns="0" rtlCol="0" anchor="ctr"/>
          <a:lstStyle/>
          <a:p>
            <a:pPr marL="0" indent="0">
              <a:buNone/>
            </a:pPr>
            <a:r>
              <a:rPr lang="en-US" sz="1800" b="1" dirty="0">
                <a:solidFill>
                  <a:schemeClr val="tx2"/>
                </a:solidFill>
              </a:rPr>
              <a:t>Risk Analysis</a:t>
            </a:r>
            <a:endParaRPr lang="en-US" sz="1800" dirty="0"/>
          </a:p>
        </p:txBody>
      </p:sp>
      <p:sp>
        <p:nvSpPr>
          <p:cNvPr id="15" name="Demo text Risk Analysis"/>
          <p:cNvSpPr txBox="1"/>
          <p:nvPr/>
        </p:nvSpPr>
        <p:spPr>
          <a:xfrm>
            <a:off x="8275320" y="2514600"/>
            <a:ext cx="3108960" cy="914400"/>
          </a:xfrm>
          <a:prstGeom prst="rect">
            <a:avLst/>
          </a:prstGeom>
          <a:noFill/>
          <a:ln/>
        </p:spPr>
        <p:txBody>
          <a:bodyPr wrap="square" lIns="0" tIns="0" rIns="0" bIns="0" rtlCol="0" anchor="t"/>
          <a:lstStyle/>
          <a:p>
            <a:pPr marL="0" indent="0">
              <a:buNone/>
            </a:pPr>
            <a:r>
              <a:rPr lang="en-US" sz="1500" dirty="0">
                <a:solidFill>
                  <a:schemeClr val="tx1"/>
                </a:solidFill>
              </a:rPr>
              <a:t>Show the three risk bands next to historical default outcomes.</a:t>
            </a:r>
            <a:endParaRPr lang="en-US" sz="1500" dirty="0"/>
          </a:p>
        </p:txBody>
      </p:sp>
      <p:sp>
        <p:nvSpPr>
          <p:cNvPr id="16" name="Demo card Customer Explorer"/>
          <p:cNvSpPr/>
          <p:nvPr/>
        </p:nvSpPr>
        <p:spPr>
          <a:xfrm>
            <a:off x="548640" y="3749040"/>
            <a:ext cx="3566160" cy="1920240"/>
          </a:xfrm>
          <a:prstGeom prst="roundRect">
            <a:avLst>
              <a:gd name="adj" fmla="val 5714"/>
            </a:avLst>
          </a:prstGeom>
          <a:solidFill>
            <a:schemeClr val="bg2"/>
          </a:solidFill>
          <a:ln/>
        </p:spPr>
      </p:sp>
      <p:sp>
        <p:nvSpPr>
          <p:cNvPr id="17" name="Demo number 4"/>
          <p:cNvSpPr txBox="1"/>
          <p:nvPr/>
        </p:nvSpPr>
        <p:spPr>
          <a:xfrm>
            <a:off x="777240" y="3977640"/>
            <a:ext cx="502920" cy="50292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8" name="Demo heading Customer Explorer"/>
          <p:cNvSpPr txBox="1"/>
          <p:nvPr/>
        </p:nvSpPr>
        <p:spPr>
          <a:xfrm>
            <a:off x="1463040" y="3977640"/>
            <a:ext cx="2468880" cy="502920"/>
          </a:xfrm>
          <a:prstGeom prst="rect">
            <a:avLst/>
          </a:prstGeom>
          <a:noFill/>
          <a:ln/>
        </p:spPr>
        <p:txBody>
          <a:bodyPr wrap="square" lIns="0" tIns="0" rIns="0" bIns="0" rtlCol="0" anchor="ctr"/>
          <a:lstStyle/>
          <a:p>
            <a:pPr marL="0" indent="0">
              <a:buNone/>
            </a:pPr>
            <a:r>
              <a:rPr lang="en-US" sz="1800" b="1" dirty="0">
                <a:solidFill>
                  <a:schemeClr val="tx2"/>
                </a:solidFill>
              </a:rPr>
              <a:t>Customer Explorer</a:t>
            </a:r>
            <a:endParaRPr lang="en-US" sz="1800" dirty="0"/>
          </a:p>
        </p:txBody>
      </p:sp>
      <p:sp>
        <p:nvSpPr>
          <p:cNvPr id="19" name="Demo text Customer Explorer"/>
          <p:cNvSpPr txBox="1"/>
          <p:nvPr/>
        </p:nvSpPr>
        <p:spPr>
          <a:xfrm>
            <a:off x="777240" y="4663440"/>
            <a:ext cx="3108960" cy="914400"/>
          </a:xfrm>
          <a:prstGeom prst="rect">
            <a:avLst/>
          </a:prstGeom>
          <a:noFill/>
          <a:ln/>
        </p:spPr>
        <p:txBody>
          <a:bodyPr wrap="square" lIns="0" tIns="0" rIns="0" bIns="0" rtlCol="0" anchor="t"/>
          <a:lstStyle/>
          <a:p>
            <a:pPr marL="0" indent="0">
              <a:buNone/>
            </a:pPr>
            <a:r>
              <a:rPr lang="en-US" sz="1500" dirty="0">
                <a:solidFill>
                  <a:schemeClr val="tx1"/>
                </a:solidFill>
              </a:rPr>
              <a:t>Search a customer and open the profile and risk breakdown.</a:t>
            </a:r>
            <a:endParaRPr lang="en-US" sz="1500" dirty="0"/>
          </a:p>
        </p:txBody>
      </p:sp>
      <p:sp>
        <p:nvSpPr>
          <p:cNvPr id="20" name="Demo card Customer Management"/>
          <p:cNvSpPr/>
          <p:nvPr/>
        </p:nvSpPr>
        <p:spPr>
          <a:xfrm>
            <a:off x="4297680" y="3749040"/>
            <a:ext cx="3566160" cy="1920240"/>
          </a:xfrm>
          <a:prstGeom prst="roundRect">
            <a:avLst>
              <a:gd name="adj" fmla="val 5714"/>
            </a:avLst>
          </a:prstGeom>
          <a:solidFill>
            <a:schemeClr val="bg2"/>
          </a:solidFill>
          <a:ln/>
        </p:spPr>
      </p:sp>
      <p:sp>
        <p:nvSpPr>
          <p:cNvPr id="21" name="Demo number 5"/>
          <p:cNvSpPr txBox="1"/>
          <p:nvPr/>
        </p:nvSpPr>
        <p:spPr>
          <a:xfrm>
            <a:off x="4526280" y="3977640"/>
            <a:ext cx="502920" cy="50292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2" name="Demo heading Customer Management"/>
          <p:cNvSpPr txBox="1"/>
          <p:nvPr/>
        </p:nvSpPr>
        <p:spPr>
          <a:xfrm>
            <a:off x="5212080" y="3977640"/>
            <a:ext cx="2468880" cy="502920"/>
          </a:xfrm>
          <a:prstGeom prst="rect">
            <a:avLst/>
          </a:prstGeom>
          <a:noFill/>
          <a:ln/>
        </p:spPr>
        <p:txBody>
          <a:bodyPr wrap="square" lIns="0" tIns="0" rIns="0" bIns="0" rtlCol="0" anchor="ctr"/>
          <a:lstStyle/>
          <a:p>
            <a:pPr marL="0" indent="0">
              <a:buNone/>
            </a:pPr>
            <a:r>
              <a:rPr lang="en-US" sz="1800" b="1" dirty="0">
                <a:solidFill>
                  <a:schemeClr val="tx2"/>
                </a:solidFill>
              </a:rPr>
              <a:t>Customer Management</a:t>
            </a:r>
            <a:endParaRPr lang="en-US" sz="1800" dirty="0"/>
          </a:p>
        </p:txBody>
      </p:sp>
      <p:sp>
        <p:nvSpPr>
          <p:cNvPr id="23" name="Demo text Customer Management"/>
          <p:cNvSpPr txBox="1"/>
          <p:nvPr/>
        </p:nvSpPr>
        <p:spPr>
          <a:xfrm>
            <a:off x="4526280" y="4663440"/>
            <a:ext cx="3108960" cy="914400"/>
          </a:xfrm>
          <a:prstGeom prst="rect">
            <a:avLst/>
          </a:prstGeom>
          <a:noFill/>
          <a:ln/>
        </p:spPr>
        <p:txBody>
          <a:bodyPr wrap="square" lIns="0" tIns="0" rIns="0" bIns="0" rtlCol="0" anchor="t"/>
          <a:lstStyle/>
          <a:p>
            <a:pPr marL="0" indent="0">
              <a:buNone/>
            </a:pPr>
            <a:r>
              <a:rPr lang="en-US" sz="1500" dirty="0">
                <a:solidFill>
                  <a:schemeClr val="tx1"/>
                </a:solidFill>
              </a:rPr>
              <a:t>Create a customer: the risk score is calculated instantly.</a:t>
            </a:r>
            <a:endParaRPr lang="en-US" sz="1500" dirty="0"/>
          </a:p>
        </p:txBody>
      </p:sp>
      <p:sp>
        <p:nvSpPr>
          <p:cNvPr id="24" name="Demo card Reports and access"/>
          <p:cNvSpPr/>
          <p:nvPr/>
        </p:nvSpPr>
        <p:spPr>
          <a:xfrm>
            <a:off x="8046720" y="3749040"/>
            <a:ext cx="3566160" cy="1920240"/>
          </a:xfrm>
          <a:prstGeom prst="roundRect">
            <a:avLst>
              <a:gd name="adj" fmla="val 5714"/>
            </a:avLst>
          </a:prstGeom>
          <a:solidFill>
            <a:schemeClr val="bg2"/>
          </a:solidFill>
          <a:ln/>
        </p:spPr>
      </p:sp>
      <p:sp>
        <p:nvSpPr>
          <p:cNvPr id="25" name="Demo number 6"/>
          <p:cNvSpPr txBox="1"/>
          <p:nvPr/>
        </p:nvSpPr>
        <p:spPr>
          <a:xfrm>
            <a:off x="8275320" y="3977640"/>
            <a:ext cx="502920" cy="502920"/>
          </a:xfrm>
          <a:prstGeom prst="ellipse">
            <a:avLst/>
          </a:prstGeom>
          <a:solidFill>
            <a:schemeClr val="tx2"/>
          </a:solid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26" name="Demo heading Reports and access"/>
          <p:cNvSpPr txBox="1"/>
          <p:nvPr/>
        </p:nvSpPr>
        <p:spPr>
          <a:xfrm>
            <a:off x="8961120" y="3977640"/>
            <a:ext cx="2468880" cy="502920"/>
          </a:xfrm>
          <a:prstGeom prst="rect">
            <a:avLst/>
          </a:prstGeom>
          <a:noFill/>
          <a:ln/>
        </p:spPr>
        <p:txBody>
          <a:bodyPr wrap="square" lIns="0" tIns="0" rIns="0" bIns="0" rtlCol="0" anchor="ctr"/>
          <a:lstStyle/>
          <a:p>
            <a:pPr marL="0" indent="0">
              <a:buNone/>
            </a:pPr>
            <a:r>
              <a:rPr lang="en-US" sz="1800" b="1" dirty="0">
                <a:solidFill>
                  <a:schemeClr val="tx2"/>
                </a:solidFill>
              </a:rPr>
              <a:t>Reports and access</a:t>
            </a:r>
            <a:endParaRPr lang="en-US" sz="1800" dirty="0"/>
          </a:p>
        </p:txBody>
      </p:sp>
      <p:sp>
        <p:nvSpPr>
          <p:cNvPr id="27" name="Demo text Reports and access"/>
          <p:cNvSpPr txBox="1"/>
          <p:nvPr/>
        </p:nvSpPr>
        <p:spPr>
          <a:xfrm>
            <a:off x="8275320" y="4663440"/>
            <a:ext cx="3108960" cy="914400"/>
          </a:xfrm>
          <a:prstGeom prst="rect">
            <a:avLst/>
          </a:prstGeom>
          <a:noFill/>
          <a:ln/>
        </p:spPr>
        <p:txBody>
          <a:bodyPr wrap="square" lIns="0" tIns="0" rIns="0" bIns="0" rtlCol="0" anchor="t"/>
          <a:lstStyle/>
          <a:p>
            <a:pPr marL="0" indent="0">
              <a:buNone/>
            </a:pPr>
            <a:r>
              <a:rPr lang="en-US" sz="1500" dirty="0">
                <a:solidFill>
                  <a:schemeClr val="tx1"/>
                </a:solidFill>
              </a:rPr>
              <a:t>Export a filtered CSV, then log in as a viewer to show limits.</a:t>
            </a:r>
            <a:endParaRPr lang="en-US" sz="1500" dirty="0"/>
          </a:p>
        </p:txBody>
      </p:sp>
      <p:sp>
        <p:nvSpPr>
          <p:cNvPr id="28"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3A6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Evaluation results</a:t>
            </a:r>
            <a:endParaRPr lang="en-US" sz="3400" dirty="0"/>
          </a:p>
        </p:txBody>
      </p:sp>
      <p:graphicFrame>
        <p:nvGraphicFramePr>
          <p:cNvPr id="3" name="Chart 0"/>
          <p:cNvGraphicFramePr/>
          <p:nvPr/>
        </p:nvGraphicFramePr>
        <p:xfrm>
          <a:off x="548640" y="1371600"/>
          <a:ext cx="59436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7" name="Result card 30,000"/>
          <p:cNvSpPr/>
          <p:nvPr/>
        </p:nvSpPr>
        <p:spPr>
          <a:xfrm>
            <a:off x="6858000" y="2697480"/>
            <a:ext cx="4754880" cy="1143000"/>
          </a:xfrm>
          <a:prstGeom prst="roundRect">
            <a:avLst>
              <a:gd name="adj" fmla="val 9600"/>
            </a:avLst>
          </a:prstGeom>
          <a:solidFill>
            <a:schemeClr val="bg2"/>
          </a:solidFill>
          <a:ln/>
        </p:spPr>
      </p:sp>
      <p:sp>
        <p:nvSpPr>
          <p:cNvPr id="8" name="Result value 30,000"/>
          <p:cNvSpPr txBox="1"/>
          <p:nvPr/>
        </p:nvSpPr>
        <p:spPr>
          <a:xfrm>
            <a:off x="7040880" y="2697480"/>
            <a:ext cx="1554480" cy="1143000"/>
          </a:xfrm>
          <a:prstGeom prst="rect">
            <a:avLst/>
          </a:prstGeom>
          <a:noFill/>
          <a:ln/>
        </p:spPr>
        <p:txBody>
          <a:bodyPr wrap="square" lIns="0" tIns="0" rIns="0" bIns="0" rtlCol="0" anchor="ctr"/>
          <a:lstStyle/>
          <a:p>
            <a:pPr marL="0" indent="0">
              <a:buNone/>
            </a:pPr>
            <a:r>
              <a:rPr lang="en-US" sz="3200" b="1" dirty="0">
                <a:solidFill>
                  <a:schemeClr val="tx2"/>
                </a:solidFill>
              </a:rPr>
              <a:t>30,000</a:t>
            </a:r>
            <a:endParaRPr lang="en-US" sz="3200" dirty="0"/>
          </a:p>
        </p:txBody>
      </p:sp>
      <p:sp>
        <p:nvSpPr>
          <p:cNvPr id="9" name="Result label 30,000"/>
          <p:cNvSpPr txBox="1"/>
          <p:nvPr/>
        </p:nvSpPr>
        <p:spPr>
          <a:xfrm>
            <a:off x="8686800" y="2697480"/>
            <a:ext cx="2743200" cy="1143000"/>
          </a:xfrm>
          <a:prstGeom prst="rect">
            <a:avLst/>
          </a:prstGeom>
          <a:noFill/>
          <a:ln/>
        </p:spPr>
        <p:txBody>
          <a:bodyPr wrap="square" lIns="0" tIns="0" rIns="0" bIns="0" rtlCol="0" anchor="ctr"/>
          <a:lstStyle/>
          <a:p>
            <a:pPr marL="0" indent="0">
              <a:buNone/>
            </a:pPr>
            <a:r>
              <a:rPr lang="en-US" sz="1400" dirty="0">
                <a:solidFill>
                  <a:schemeClr val="tx1"/>
                </a:solidFill>
              </a:rPr>
              <a:t>customers scored: 13,966 LOW, 9,673 MEDIUM, 6,361 HIGH</a:t>
            </a:r>
            <a:endParaRPr lang="en-US" sz="1400" dirty="0"/>
          </a:p>
        </p:txBody>
      </p:sp>
      <p:sp>
        <p:nvSpPr>
          <p:cNvPr id="10" name="Result card 672"/>
          <p:cNvSpPr/>
          <p:nvPr/>
        </p:nvSpPr>
        <p:spPr>
          <a:xfrm>
            <a:off x="6858000" y="4023360"/>
            <a:ext cx="4754880" cy="1143000"/>
          </a:xfrm>
          <a:prstGeom prst="roundRect">
            <a:avLst>
              <a:gd name="adj" fmla="val 9600"/>
            </a:avLst>
          </a:prstGeom>
          <a:solidFill>
            <a:schemeClr val="bg2"/>
          </a:solidFill>
          <a:ln/>
        </p:spPr>
      </p:sp>
      <p:sp>
        <p:nvSpPr>
          <p:cNvPr id="11" name="Result value 672"/>
          <p:cNvSpPr txBox="1"/>
          <p:nvPr/>
        </p:nvSpPr>
        <p:spPr>
          <a:xfrm>
            <a:off x="7040880" y="4023360"/>
            <a:ext cx="1554480" cy="1143000"/>
          </a:xfrm>
          <a:prstGeom prst="rect">
            <a:avLst/>
          </a:prstGeom>
          <a:noFill/>
          <a:ln/>
        </p:spPr>
        <p:txBody>
          <a:bodyPr wrap="square" lIns="0" tIns="0" rIns="0" bIns="0" rtlCol="0" anchor="ctr"/>
          <a:lstStyle/>
          <a:p>
            <a:pPr marL="0" indent="0">
              <a:buNone/>
            </a:pPr>
            <a:r>
              <a:rPr lang="en-US" sz="3200" b="1">
                <a:solidFill>
                  <a:schemeClr val="tx2"/>
                </a:solidFill>
                <a:ea typeface="Calibri"/>
                <a:cs typeface="Calibri"/>
              </a:rPr>
              <a:t>370</a:t>
            </a:r>
            <a:endParaRPr lang="en-US" sz="3200" b="1" dirty="0">
              <a:solidFill>
                <a:schemeClr val="tx2"/>
              </a:solidFill>
              <a:ea typeface="Calibri"/>
              <a:cs typeface="Calibri"/>
            </a:endParaRPr>
          </a:p>
        </p:txBody>
      </p:sp>
      <p:sp>
        <p:nvSpPr>
          <p:cNvPr id="12" name="Result label 672"/>
          <p:cNvSpPr txBox="1"/>
          <p:nvPr/>
        </p:nvSpPr>
        <p:spPr>
          <a:xfrm>
            <a:off x="8686800" y="4023360"/>
            <a:ext cx="2743200" cy="1143000"/>
          </a:xfrm>
          <a:prstGeom prst="rect">
            <a:avLst/>
          </a:prstGeom>
          <a:noFill/>
          <a:ln/>
        </p:spPr>
        <p:txBody>
          <a:bodyPr wrap="square" lIns="0" tIns="0" rIns="0" bIns="0" rtlCol="0" anchor="ctr"/>
          <a:lstStyle/>
          <a:p>
            <a:pPr marL="0" indent="0">
              <a:buNone/>
            </a:pPr>
            <a:r>
              <a:rPr lang="en-US" sz="1400" dirty="0">
                <a:solidFill>
                  <a:schemeClr val="tx1"/>
                </a:solidFill>
              </a:rPr>
              <a:t>automated tests passing</a:t>
            </a:r>
            <a:endParaRPr lang="en-US" sz="1400" dirty="0"/>
          </a:p>
        </p:txBody>
      </p:sp>
      <p:sp>
        <p:nvSpPr>
          <p:cNvPr id="13" name="Evaluation caveat box"/>
          <p:cNvSpPr/>
          <p:nvPr/>
        </p:nvSpPr>
        <p:spPr>
          <a:xfrm>
            <a:off x="548640" y="5486400"/>
            <a:ext cx="11064240" cy="685800"/>
          </a:xfrm>
          <a:prstGeom prst="roundRect">
            <a:avLst>
              <a:gd name="adj" fmla="val 16000"/>
            </a:avLst>
          </a:prstGeom>
          <a:solidFill>
            <a:schemeClr val="tx2"/>
          </a:solidFill>
          <a:ln/>
        </p:spPr>
      </p:sp>
      <p:sp>
        <p:nvSpPr>
          <p:cNvPr id="14" name="Evaluation caveat text"/>
          <p:cNvSpPr txBox="1"/>
          <p:nvPr/>
        </p:nvSpPr>
        <p:spPr>
          <a:xfrm>
            <a:off x="777240" y="5486400"/>
            <a:ext cx="10607040" cy="685800"/>
          </a:xfrm>
          <a:prstGeom prst="rect">
            <a:avLst/>
          </a:prstGeom>
          <a:noFill/>
          <a:ln/>
        </p:spPr>
        <p:txBody>
          <a:bodyPr wrap="square" lIns="0" tIns="0" rIns="0" bIns="0" rtlCol="0" anchor="ctr"/>
          <a:lstStyle/>
          <a:p>
            <a:pPr marL="0" indent="0">
              <a:buNone/>
            </a:pPr>
            <a:r>
              <a:rPr lang="en-US" sz="1600" dirty="0">
                <a:solidFill>
                  <a:schemeClr val="bg1"/>
                </a:solidFill>
              </a:rPr>
              <a:t>Historical observations on the source dataset, not predictions or guarantees of future defaults.</a:t>
            </a:r>
            <a:endParaRPr lang="en-US" sz="16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3A6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Challenges and learnings</a:t>
            </a:r>
            <a:endParaRPr lang="en-US" sz="3400" dirty="0"/>
          </a:p>
        </p:txBody>
      </p:sp>
      <p:sp>
        <p:nvSpPr>
          <p:cNvPr id="3" name="Challenges card"/>
          <p:cNvSpPr/>
          <p:nvPr/>
        </p:nvSpPr>
        <p:spPr>
          <a:xfrm>
            <a:off x="548640" y="1371600"/>
            <a:ext cx="5440680" cy="3931920"/>
          </a:xfrm>
          <a:prstGeom prst="roundRect">
            <a:avLst>
              <a:gd name="adj" fmla="val 2791"/>
            </a:avLst>
          </a:prstGeom>
          <a:solidFill>
            <a:schemeClr val="bg2"/>
          </a:solidFill>
          <a:ln/>
        </p:spPr>
      </p:sp>
      <p:sp>
        <p:nvSpPr>
          <p:cNvPr id="4" name="Challenges heading"/>
          <p:cNvSpPr txBox="1"/>
          <p:nvPr/>
        </p:nvSpPr>
        <p:spPr>
          <a:xfrm>
            <a:off x="822960" y="1554480"/>
            <a:ext cx="4846320" cy="411480"/>
          </a:xfrm>
          <a:prstGeom prst="rect">
            <a:avLst/>
          </a:prstGeom>
          <a:noFill/>
          <a:ln/>
        </p:spPr>
        <p:txBody>
          <a:bodyPr wrap="square" lIns="0" tIns="0" rIns="0" bIns="0" rtlCol="0" anchor="t"/>
          <a:lstStyle/>
          <a:p>
            <a:pPr marL="0" indent="0">
              <a:buNone/>
            </a:pPr>
            <a:r>
              <a:rPr lang="en-US" sz="2000" b="1" dirty="0">
                <a:solidFill>
                  <a:schemeClr val="tx2"/>
                </a:solidFill>
              </a:rPr>
              <a:t>Challenges</a:t>
            </a:r>
            <a:endParaRPr lang="en-US" sz="2000" dirty="0"/>
          </a:p>
        </p:txBody>
      </p:sp>
      <p:sp>
        <p:nvSpPr>
          <p:cNvPr id="5" name="Challenges list"/>
          <p:cNvSpPr txBox="1"/>
          <p:nvPr/>
        </p:nvSpPr>
        <p:spPr>
          <a:xfrm>
            <a:off x="822960" y="2148840"/>
            <a:ext cx="4892040" cy="3017520"/>
          </a:xfrm>
          <a:prstGeom prst="rect">
            <a:avLst/>
          </a:prstGeom>
          <a:noFill/>
          <a:ln/>
        </p:spPr>
        <p:txBody>
          <a:bodyPr wrap="square" lIns="0" tIns="0" rIns="0" bIns="0" rtlCol="0" anchor="t"/>
          <a:lstStyle/>
          <a:p>
            <a:pPr marL="342900" indent="-342900">
              <a:spcAft>
                <a:spcPts val="1400"/>
              </a:spcAft>
              <a:buSzPct val="100000"/>
              <a:buChar char="•"/>
            </a:pPr>
            <a:r>
              <a:rPr lang="en-US" sz="1600" b="1" dirty="0">
                <a:solidFill>
                  <a:schemeClr val="tx1"/>
                </a:solidFill>
              </a:rPr>
              <a:t>Messy source codes. </a:t>
            </a:r>
            <a:r>
              <a:rPr lang="en-US" sz="1600" dirty="0">
                <a:solidFill>
                  <a:schemeClr val="tx1"/>
                </a:solidFill>
              </a:rPr>
              <a:t>Undocumented education and marriage values and negative bills are flagged as warnings.</a:t>
            </a:r>
            <a:endParaRPr lang="en-US" sz="1600" dirty="0"/>
          </a:p>
          <a:p>
            <a:pPr marL="342900" indent="-342900">
              <a:spcAft>
                <a:spcPts val="1400"/>
              </a:spcAft>
              <a:buSzPct val="100000"/>
              <a:buChar char="•"/>
            </a:pPr>
            <a:r>
              <a:rPr lang="en-US" sz="1600" b="1" dirty="0">
                <a:solidFill>
                  <a:schemeClr val="tx1"/>
                </a:solidFill>
              </a:rPr>
              <a:t>Safe incremental loads. </a:t>
            </a:r>
            <a:r>
              <a:rPr lang="en-US" sz="1600" dirty="0">
                <a:solidFill>
                  <a:schemeClr val="tx1"/>
                </a:solidFill>
              </a:rPr>
              <a:t>New and changed rows are detected, counts reconciled, and loads are all-or-nothing.</a:t>
            </a:r>
            <a:endParaRPr lang="en-US" sz="1600" dirty="0"/>
          </a:p>
          <a:p>
            <a:pPr marL="342900" indent="-342900">
              <a:spcAft>
                <a:spcPts val="1400"/>
              </a:spcAft>
              <a:buSzPct val="100000"/>
              <a:buChar char="•"/>
            </a:pPr>
            <a:r>
              <a:rPr lang="en-US" sz="1600" b="1" dirty="0">
                <a:solidFill>
                  <a:schemeClr val="tx1"/>
                </a:solidFill>
              </a:rPr>
              <a:t>Explainable scoring. </a:t>
            </a:r>
            <a:r>
              <a:rPr lang="en-US" sz="1600" dirty="0">
                <a:solidFill>
                  <a:schemeClr val="tx1"/>
                </a:solidFill>
              </a:rPr>
              <a:t>Thresholds are proposed rules checked against historical defaults, not a trained model.</a:t>
            </a:r>
            <a:endParaRPr lang="en-US" sz="1600" dirty="0"/>
          </a:p>
          <a:p>
            <a:pPr marL="342900" indent="-342900">
              <a:spcAft>
                <a:spcPts val="1400"/>
              </a:spcAft>
              <a:buSzPct val="100000"/>
              <a:buChar char="•"/>
            </a:pPr>
            <a:r>
              <a:rPr lang="en-US" sz="1600" b="1" dirty="0">
                <a:solidFill>
                  <a:schemeClr val="tx1"/>
                </a:solidFill>
              </a:rPr>
              <a:t>Consistent security. </a:t>
            </a:r>
            <a:r>
              <a:rPr lang="en-US" sz="1600" dirty="0">
                <a:solidFill>
                  <a:schemeClr val="tx1"/>
                </a:solidFill>
              </a:rPr>
              <a:t>Roles are enforced in the backend, not only hidden in the UI.</a:t>
            </a:r>
            <a:endParaRPr lang="en-US" sz="1600" dirty="0"/>
          </a:p>
        </p:txBody>
      </p:sp>
      <p:sp>
        <p:nvSpPr>
          <p:cNvPr id="6" name="Learnings card"/>
          <p:cNvSpPr/>
          <p:nvPr/>
        </p:nvSpPr>
        <p:spPr>
          <a:xfrm>
            <a:off x="6172200" y="1371600"/>
            <a:ext cx="5440680" cy="3931920"/>
          </a:xfrm>
          <a:prstGeom prst="roundRect">
            <a:avLst>
              <a:gd name="adj" fmla="val 2791"/>
            </a:avLst>
          </a:prstGeom>
          <a:solidFill>
            <a:schemeClr val="bg2"/>
          </a:solidFill>
          <a:ln/>
        </p:spPr>
      </p:sp>
      <p:sp>
        <p:nvSpPr>
          <p:cNvPr id="7" name="Learnings heading"/>
          <p:cNvSpPr txBox="1"/>
          <p:nvPr/>
        </p:nvSpPr>
        <p:spPr>
          <a:xfrm>
            <a:off x="6446520" y="1554480"/>
            <a:ext cx="4846320" cy="411480"/>
          </a:xfrm>
          <a:prstGeom prst="rect">
            <a:avLst/>
          </a:prstGeom>
          <a:noFill/>
          <a:ln/>
        </p:spPr>
        <p:txBody>
          <a:bodyPr wrap="square" lIns="0" tIns="0" rIns="0" bIns="0" rtlCol="0" anchor="t"/>
          <a:lstStyle/>
          <a:p>
            <a:pPr marL="0" indent="0">
              <a:buNone/>
            </a:pPr>
            <a:r>
              <a:rPr lang="en-US" sz="2000" b="1" dirty="0">
                <a:solidFill>
                  <a:schemeClr val="tx2"/>
                </a:solidFill>
              </a:rPr>
              <a:t>Learnings</a:t>
            </a:r>
            <a:endParaRPr lang="en-US" sz="2000" dirty="0"/>
          </a:p>
        </p:txBody>
      </p:sp>
      <p:sp>
        <p:nvSpPr>
          <p:cNvPr id="8" name="Learnings list"/>
          <p:cNvSpPr txBox="1"/>
          <p:nvPr/>
        </p:nvSpPr>
        <p:spPr>
          <a:xfrm>
            <a:off x="6446520" y="2148840"/>
            <a:ext cx="4892040" cy="3017520"/>
          </a:xfrm>
          <a:prstGeom prst="rect">
            <a:avLst/>
          </a:prstGeom>
          <a:noFill/>
          <a:ln/>
        </p:spPr>
        <p:txBody>
          <a:bodyPr wrap="square" lIns="0" tIns="0" rIns="0" bIns="0" rtlCol="0" anchor="t"/>
          <a:lstStyle/>
          <a:p>
            <a:pPr marL="342900" indent="-342900">
              <a:spcAft>
                <a:spcPts val="1400"/>
              </a:spcAft>
              <a:buSzPct val="100000"/>
              <a:buChar char="•"/>
            </a:pPr>
            <a:r>
              <a:rPr lang="en-US" sz="1600" b="1" dirty="0">
                <a:solidFill>
                  <a:schemeClr val="tx1"/>
                </a:solidFill>
              </a:rPr>
              <a:t>Validate early. </a:t>
            </a:r>
            <a:r>
              <a:rPr lang="en-US" sz="1600" dirty="0">
                <a:solidFill>
                  <a:schemeClr val="tx1"/>
                </a:solidFill>
              </a:rPr>
              <a:t>A data quality gate before transformation prevents bad data downstream.</a:t>
            </a:r>
            <a:endParaRPr lang="en-US" sz="1600" dirty="0"/>
          </a:p>
          <a:p>
            <a:pPr marL="342900" indent="-342900">
              <a:spcAft>
                <a:spcPts val="1400"/>
              </a:spcAft>
              <a:buSzPct val="100000"/>
              <a:buChar char="•"/>
            </a:pPr>
            <a:r>
              <a:rPr lang="en-US" sz="1600" b="1" dirty="0">
                <a:solidFill>
                  <a:schemeClr val="tx1"/>
                </a:solidFill>
              </a:rPr>
              <a:t>Make reruns safe. </a:t>
            </a:r>
            <a:r>
              <a:rPr lang="en-US" sz="1600" dirty="0">
                <a:solidFill>
                  <a:schemeClr val="tx1"/>
                </a:solidFill>
              </a:rPr>
              <a:t>Idempotent, audited pipelines can be repeated without side effects.</a:t>
            </a:r>
            <a:endParaRPr lang="en-US" sz="1600" dirty="0"/>
          </a:p>
          <a:p>
            <a:pPr marL="342900" indent="-342900">
              <a:spcAft>
                <a:spcPts val="1400"/>
              </a:spcAft>
              <a:buSzPct val="100000"/>
              <a:buChar char="•"/>
            </a:pPr>
            <a:r>
              <a:rPr lang="en-US" sz="1600" b="1" dirty="0">
                <a:solidFill>
                  <a:schemeClr val="tx1"/>
                </a:solidFill>
              </a:rPr>
              <a:t>Separate layers. </a:t>
            </a:r>
            <a:r>
              <a:rPr lang="en-US" sz="1600" dirty="0">
                <a:solidFill>
                  <a:schemeClr val="tx1"/>
                </a:solidFill>
              </a:rPr>
              <a:t>ETL, rules, API and UI stay small and testable, backed by 672 tests.</a:t>
            </a:r>
            <a:endParaRPr lang="en-US" sz="1600" dirty="0"/>
          </a:p>
          <a:p>
            <a:pPr marL="342900" indent="-342900">
              <a:spcAft>
                <a:spcPts val="1400"/>
              </a:spcAft>
              <a:buSzPct val="100000"/>
              <a:buChar char="•"/>
            </a:pPr>
            <a:r>
              <a:rPr lang="en-US" sz="1600" b="1" dirty="0">
                <a:solidFill>
                  <a:schemeClr val="tx1"/>
                </a:solidFill>
              </a:rPr>
              <a:t>Simple rules work. </a:t>
            </a:r>
            <a:r>
              <a:rPr lang="en-US" sz="1600" dirty="0">
                <a:solidFill>
                  <a:schemeClr val="tx1"/>
                </a:solidFill>
              </a:rPr>
              <a:t>Four indicators separate HIGH (51%) from LOW (13%) historical default rates.</a:t>
            </a:r>
            <a:endParaRPr lang="en-US" sz="1600" dirty="0"/>
          </a:p>
        </p:txBody>
      </p:sp>
      <p:sp>
        <p:nvSpPr>
          <p:cNvPr id="9" name="Next steps box"/>
          <p:cNvSpPr/>
          <p:nvPr/>
        </p:nvSpPr>
        <p:spPr>
          <a:xfrm>
            <a:off x="548640" y="5532120"/>
            <a:ext cx="11064240" cy="685800"/>
          </a:xfrm>
          <a:prstGeom prst="roundRect">
            <a:avLst>
              <a:gd name="adj" fmla="val 16000"/>
            </a:avLst>
          </a:prstGeom>
          <a:solidFill>
            <a:schemeClr val="tx2"/>
          </a:solidFill>
          <a:ln/>
        </p:spPr>
      </p:sp>
      <p:sp>
        <p:nvSpPr>
          <p:cNvPr id="10" name="Next steps text"/>
          <p:cNvSpPr txBox="1"/>
          <p:nvPr/>
        </p:nvSpPr>
        <p:spPr>
          <a:xfrm>
            <a:off x="777240" y="5532120"/>
            <a:ext cx="10607040" cy="685800"/>
          </a:xfrm>
          <a:prstGeom prst="rect">
            <a:avLst/>
          </a:prstGeom>
          <a:noFill/>
          <a:ln/>
        </p:spPr>
        <p:txBody>
          <a:bodyPr wrap="square" lIns="0" tIns="0" rIns="0" bIns="0" rtlCol="0" anchor="ctr"/>
          <a:lstStyle/>
          <a:p>
            <a:pPr marL="0" indent="0">
              <a:buNone/>
            </a:pPr>
            <a:r>
              <a:rPr lang="en-US" sz="1600" dirty="0">
                <a:solidFill>
                  <a:schemeClr val="bg1"/>
                </a:solidFill>
              </a:rPr>
              <a:t>Next: run risk scoring automatically after each ETL load, and validate the thresholds on other portfolios.</a:t>
            </a:r>
            <a:endParaRPr lang="en-US" sz="16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0E3A66"/>
                </a:solidFill>
              </a:defRPr>
            </a:lvl1pPr>
          </a:lstStyle>
          <a:p>
            <a:pPr algn="r"/>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Risk Navy">
  <a:themeElements>
    <a:clrScheme name="Risk Navy">
      <a:dk1>
        <a:srgbClr val="0B1B33"/>
      </a:dk1>
      <a:lt1>
        <a:srgbClr val="FFFFFF"/>
      </a:lt1>
      <a:dk2>
        <a:srgbClr val="0E3A66"/>
      </a:dk2>
      <a:lt2>
        <a:srgbClr val="EAF0F7"/>
      </a:lt2>
      <a:accent1>
        <a:srgbClr val="1F6FB2"/>
      </a:accent1>
      <a:accent2>
        <a:srgbClr val="0F7F6E"/>
      </a:accent2>
      <a:accent3>
        <a:srgbClr val="E9A23B"/>
      </a:accent3>
      <a:accent4>
        <a:srgbClr val="D64545"/>
      </a:accent4>
      <a:accent5>
        <a:srgbClr val="22804F"/>
      </a:accent5>
      <a:accent6>
        <a:srgbClr val="6B5BD6"/>
      </a:accent6>
      <a:hlink>
        <a:srgbClr val="1F6FB2"/>
      </a:hlink>
      <a:folHlink>
        <a:srgbClr val="6B5BD6"/>
      </a:folHlink>
    </a:clrScheme>
    <a:fontScheme name="Risk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Risk Navy</vt:lpstr>
      <vt:lpstr>Bank Credit Card Risk Analysis System</vt:lpstr>
      <vt:lpstr>Problem statement</vt:lpstr>
      <vt:lpstr>Business need</vt:lpstr>
      <vt:lpstr>Solution overview</vt:lpstr>
      <vt:lpstr>Architecture</vt:lpstr>
      <vt:lpstr>Data flow: end to end</vt:lpstr>
      <vt:lpstr>Data flow: ETL pipeline</vt:lpstr>
      <vt:lpstr>Technology stack</vt:lpstr>
      <vt:lpstr>Demo</vt:lpstr>
      <vt:lpstr>Evaluation results</vt:lpstr>
      <vt:lpstr>Challenges and learnings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Credit Card Risk Analysis System</dc:title>
  <dc:subject>PptxGenJS Presentation</dc:subject>
  <dc:creator>PptxGenJS</dc:creator>
  <cp:lastModifiedBy>PptxGenJS</cp:lastModifiedBy>
  <cp:revision>13</cp:revision>
  <dcterms:created xsi:type="dcterms:W3CDTF">2026-10-11T13:07:21Z</dcterms:created>
  <dcterms:modified xsi:type="dcterms:W3CDTF">2026-10-12T16:04:53Z</dcterms:modified>
</cp:coreProperties>
</file>